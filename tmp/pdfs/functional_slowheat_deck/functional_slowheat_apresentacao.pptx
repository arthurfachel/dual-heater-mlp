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511995e9264d98" /><Relationship Type="http://schemas.openxmlformats.org/officeDocument/2006/relationships/extended-properties" Target="/docProps/app.xml" Id="R4c3f1b8c72614cb0" /><Relationship Type="http://schemas.openxmlformats.org/officeDocument/2006/relationships/officeDocument" Target="/ppt/presentation.xml" Id="Re2df0a31779447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df6fe2f56c4fad"/>
  </p:sldMasterIdLst>
  <p:notesMasterIdLst>
    <p:notesMasterId xmlns:r="http://schemas.openxmlformats.org/officeDocument/2006/relationships" r:id="Ra733882fab7e43e6"/>
  </p:notesMasterIdLst>
  <p:sldIdLst>
    <p:sldId xmlns:r="http://schemas.openxmlformats.org/officeDocument/2006/relationships" id="256" r:id="R2ec1d66b19db40bd"/>
    <p:sldId xmlns:r="http://schemas.openxmlformats.org/officeDocument/2006/relationships" id="257" r:id="Rce2ab34f414948fc"/>
    <p:sldId xmlns:r="http://schemas.openxmlformats.org/officeDocument/2006/relationships" id="258" r:id="R22b9ca7d0bf54a78"/>
    <p:sldId xmlns:r="http://schemas.openxmlformats.org/officeDocument/2006/relationships" id="259" r:id="R4d373308bd384e40"/>
    <p:sldId xmlns:r="http://schemas.openxmlformats.org/officeDocument/2006/relationships" id="260" r:id="R6de66349f2084eb6"/>
    <p:sldId xmlns:r="http://schemas.openxmlformats.org/officeDocument/2006/relationships" id="261" r:id="R44747c4ffa1a4389"/>
    <p:sldId xmlns:r="http://schemas.openxmlformats.org/officeDocument/2006/relationships" id="262" r:id="R8c58eb87f2754683"/>
    <p:sldId xmlns:r="http://schemas.openxmlformats.org/officeDocument/2006/relationships" id="263" r:id="Rde4453b20bd44203"/>
    <p:sldId xmlns:r="http://schemas.openxmlformats.org/officeDocument/2006/relationships" id="264" r:id="Re897a7434c3c45ca"/>
    <p:sldId xmlns:r="http://schemas.openxmlformats.org/officeDocument/2006/relationships" id="265" r:id="Ra9102322491948e7"/>
    <p:sldId xmlns:r="http://schemas.openxmlformats.org/officeDocument/2006/relationships" id="266" r:id="R466afc8ba3044e75"/>
    <p:sldId xmlns:r="http://schemas.openxmlformats.org/officeDocument/2006/relationships" id="267" r:id="Rffd05e367b34453d"/>
    <p:sldId xmlns:r="http://schemas.openxmlformats.org/officeDocument/2006/relationships" id="268" r:id="Reab23c5e91e44b4d"/>
    <p:sldId xmlns:r="http://schemas.openxmlformats.org/officeDocument/2006/relationships" id="269" r:id="R7d634a8626794059"/>
    <p:sldId xmlns:r="http://schemas.openxmlformats.org/officeDocument/2006/relationships" id="270" r:id="R75fc6aa639cd412e"/>
    <p:sldId xmlns:r="http://schemas.openxmlformats.org/officeDocument/2006/relationships" id="271" r:id="R391adb42024343b8"/>
    <p:sldId xmlns:r="http://schemas.openxmlformats.org/officeDocument/2006/relationships" id="272" r:id="Rbfe10f994b2f4884"/>
    <p:sldId xmlns:r="http://schemas.openxmlformats.org/officeDocument/2006/relationships" id="273" r:id="R559efb7975884af7"/>
    <p:sldId xmlns:r="http://schemas.openxmlformats.org/officeDocument/2006/relationships" id="274" r:id="Re53ae90ac16d437d"/>
    <p:sldId xmlns:r="http://schemas.openxmlformats.org/officeDocument/2006/relationships" id="275" r:id="R0390dbdb4f854d81"/>
    <p:sldId xmlns:r="http://schemas.openxmlformats.org/officeDocument/2006/relationships" id="276" r:id="Rb5d0fab3c3e24058"/>
    <p:sldId xmlns:r="http://schemas.openxmlformats.org/officeDocument/2006/relationships" id="277" r:id="Rd13a21188cb24e31"/>
    <p:sldId xmlns:r="http://schemas.openxmlformats.org/officeDocument/2006/relationships" id="278" r:id="Re5d79c3013f041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1cde8e8cfe4628" /><Relationship Type="http://schemas.openxmlformats.org/officeDocument/2006/relationships/slideMaster" Target="/ppt/slideMasters/slideMaster1.xml" Id="Re6df6fe2f56c4fad" /><Relationship Type="http://schemas.openxmlformats.org/officeDocument/2006/relationships/notesMaster" Target="/ppt/notesMasters/notesMaster1.xml" Id="Ra733882fab7e43e6" /><Relationship Type="http://schemas.openxmlformats.org/officeDocument/2006/relationships/presProps" Target="/ppt/presProps.xml" Id="R8ea30e2db28f448f" /><Relationship Type="http://schemas.openxmlformats.org/officeDocument/2006/relationships/tableStyles" Target="/ppt/tableStyles.xml" Id="Ra88a6f49a7c64c4b" /><Relationship Type="http://schemas.openxmlformats.org/officeDocument/2006/relationships/slide" Target="/ppt/slides/slide1.xml" Id="R2ec1d66b19db40bd" /><Relationship Type="http://schemas.openxmlformats.org/officeDocument/2006/relationships/slide" Target="/ppt/slides/slide2.xml" Id="Rce2ab34f414948fc" /><Relationship Type="http://schemas.openxmlformats.org/officeDocument/2006/relationships/slide" Target="/ppt/slides/slide3.xml" Id="R22b9ca7d0bf54a78" /><Relationship Type="http://schemas.openxmlformats.org/officeDocument/2006/relationships/slide" Target="/ppt/slides/slide4.xml" Id="R4d373308bd384e40" /><Relationship Type="http://schemas.openxmlformats.org/officeDocument/2006/relationships/slide" Target="/ppt/slides/slide5.xml" Id="R6de66349f2084eb6" /><Relationship Type="http://schemas.openxmlformats.org/officeDocument/2006/relationships/slide" Target="/ppt/slides/slide6.xml" Id="R44747c4ffa1a4389" /><Relationship Type="http://schemas.openxmlformats.org/officeDocument/2006/relationships/slide" Target="/ppt/slides/slide7.xml" Id="R8c58eb87f2754683" /><Relationship Type="http://schemas.openxmlformats.org/officeDocument/2006/relationships/slide" Target="/ppt/slides/slide8.xml" Id="Rde4453b20bd44203" /><Relationship Type="http://schemas.openxmlformats.org/officeDocument/2006/relationships/slide" Target="/ppt/slides/slide9.xml" Id="Re897a7434c3c45ca" /><Relationship Type="http://schemas.openxmlformats.org/officeDocument/2006/relationships/slide" Target="/ppt/slides/slide10.xml" Id="Ra9102322491948e7" /><Relationship Type="http://schemas.openxmlformats.org/officeDocument/2006/relationships/slide" Target="/ppt/slides/slide11.xml" Id="R466afc8ba3044e75" /><Relationship Type="http://schemas.openxmlformats.org/officeDocument/2006/relationships/slide" Target="/ppt/slides/slide12.xml" Id="Rffd05e367b34453d" /><Relationship Type="http://schemas.openxmlformats.org/officeDocument/2006/relationships/slide" Target="/ppt/slides/slide13.xml" Id="Reab23c5e91e44b4d" /><Relationship Type="http://schemas.openxmlformats.org/officeDocument/2006/relationships/slide" Target="/ppt/slides/slide14.xml" Id="R7d634a8626794059" /><Relationship Type="http://schemas.openxmlformats.org/officeDocument/2006/relationships/slide" Target="/ppt/slides/slide15.xml" Id="R75fc6aa639cd412e" /><Relationship Type="http://schemas.openxmlformats.org/officeDocument/2006/relationships/slide" Target="/ppt/slides/slide16.xml" Id="R391adb42024343b8" /><Relationship Type="http://schemas.openxmlformats.org/officeDocument/2006/relationships/slide" Target="/ppt/slides/slide17.xml" Id="Rbfe10f994b2f4884" /><Relationship Type="http://schemas.openxmlformats.org/officeDocument/2006/relationships/slide" Target="/ppt/slides/slide18.xml" Id="R559efb7975884af7" /><Relationship Type="http://schemas.openxmlformats.org/officeDocument/2006/relationships/slide" Target="/ppt/slides/slide19.xml" Id="Re53ae90ac16d437d" /><Relationship Type="http://schemas.openxmlformats.org/officeDocument/2006/relationships/slide" Target="/ppt/slides/slide20.xml" Id="R0390dbdb4f854d81" /><Relationship Type="http://schemas.openxmlformats.org/officeDocument/2006/relationships/slide" Target="/ppt/slides/slide21.xml" Id="Rb5d0fab3c3e24058" /><Relationship Type="http://schemas.openxmlformats.org/officeDocument/2006/relationships/slide" Target="/ppt/slides/slide22.xml" Id="Rd13a21188cb24e31" /><Relationship Type="http://schemas.openxmlformats.org/officeDocument/2006/relationships/slide" Target="/ppt/slides/slide23.xml" Id="Re5d79c3013f041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6730d4847548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727fa26a984772" /><Relationship Type="http://schemas.openxmlformats.org/officeDocument/2006/relationships/notesMaster" Target="/ppt/notesMasters/notesMaster1.xml" Id="Redd36a7279364f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2dc74dcb364eff" /><Relationship Type="http://schemas.openxmlformats.org/officeDocument/2006/relationships/notesMaster" Target="/ppt/notesMasters/notesMaster1.xml" Id="Rdfb882b2c38e47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33998ee29a4ac2" /><Relationship Type="http://schemas.openxmlformats.org/officeDocument/2006/relationships/notesMaster" Target="/ppt/notesMasters/notesMaster1.xml" Id="R50ed3c875e914c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78c31957d949fc" /><Relationship Type="http://schemas.openxmlformats.org/officeDocument/2006/relationships/notesMaster" Target="/ppt/notesMasters/notesMaster1.xml" Id="Re1b78fb9569e45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150ecb14c44f7f" /><Relationship Type="http://schemas.openxmlformats.org/officeDocument/2006/relationships/notesMaster" Target="/ppt/notesMasters/notesMaster1.xml" Id="Rb9a76ac9443242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f97628599e4786" /><Relationship Type="http://schemas.openxmlformats.org/officeDocument/2006/relationships/notesMaster" Target="/ppt/notesMasters/notesMaster1.xml" Id="Rcf08f10189324e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71e43735b641df" /><Relationship Type="http://schemas.openxmlformats.org/officeDocument/2006/relationships/notesMaster" Target="/ppt/notesMasters/notesMaster1.xml" Id="R3cc51da564e74b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d34b8e58654787" /><Relationship Type="http://schemas.openxmlformats.org/officeDocument/2006/relationships/notesMaster" Target="/ppt/notesMasters/notesMaster1.xml" Id="R329ee31d888846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b6c61c174c4489" /><Relationship Type="http://schemas.openxmlformats.org/officeDocument/2006/relationships/notesMaster" Target="/ppt/notesMasters/notesMaster1.xml" Id="Rc547feccb6d144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65bddd8cd44b00" /><Relationship Type="http://schemas.openxmlformats.org/officeDocument/2006/relationships/notesMaster" Target="/ppt/notesMasters/notesMaster1.xml" Id="R949e6be8539341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db15fcf6f04b57" /><Relationship Type="http://schemas.openxmlformats.org/officeDocument/2006/relationships/notesMaster" Target="/ppt/notesMasters/notesMaster1.xml" Id="R395b101d111144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029c4c6dd1446d" /><Relationship Type="http://schemas.openxmlformats.org/officeDocument/2006/relationships/notesMaster" Target="/ppt/notesMasters/notesMaster1.xml" Id="R3d5552ad20664ec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34252567a34e21" /><Relationship Type="http://schemas.openxmlformats.org/officeDocument/2006/relationships/notesMaster" Target="/ppt/notesMasters/notesMaster1.xml" Id="R85cff84f34ce4e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a98911583bc42cf" /><Relationship Type="http://schemas.openxmlformats.org/officeDocument/2006/relationships/notesMaster" Target="/ppt/notesMasters/notesMaster1.xml" Id="R03add90af374489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1b0d11d4963482b" /><Relationship Type="http://schemas.openxmlformats.org/officeDocument/2006/relationships/notesMaster" Target="/ppt/notesMasters/notesMaster1.xml" Id="R40f0e4cd220c447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417509816b740f8" /><Relationship Type="http://schemas.openxmlformats.org/officeDocument/2006/relationships/notesMaster" Target="/ppt/notesMasters/notesMaster1.xml" Id="R2929092652c643e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e78d6c779ef416e" /><Relationship Type="http://schemas.openxmlformats.org/officeDocument/2006/relationships/notesMaster" Target="/ppt/notesMasters/notesMaster1.xml" Id="Rfb52d0bd0df04b5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d731c7e35314117" /><Relationship Type="http://schemas.openxmlformats.org/officeDocument/2006/relationships/notesMaster" Target="/ppt/notesMasters/notesMaster1.xml" Id="R89abda4ed97c44e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516293517474ae0" /><Relationship Type="http://schemas.openxmlformats.org/officeDocument/2006/relationships/notesMaster" Target="/ppt/notesMasters/notesMaster1.xml" Id="Rc5e3c71b515147b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47135e909134941" /><Relationship Type="http://schemas.openxmlformats.org/officeDocument/2006/relationships/notesMaster" Target="/ppt/notesMasters/notesMaster1.xml" Id="Rc30540d7b9034ad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ba493d8fe7344c1" /><Relationship Type="http://schemas.openxmlformats.org/officeDocument/2006/relationships/notesMaster" Target="/ppt/notesMasters/notesMaster1.xml" Id="Ra86a7c5a2be24f4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22c9db53b33497b" /><Relationship Type="http://schemas.openxmlformats.org/officeDocument/2006/relationships/notesMaster" Target="/ppt/notesMasters/notesMaster1.xml" Id="R710f7ccb8db0480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3bdd33aef884c43" /><Relationship Type="http://schemas.openxmlformats.org/officeDocument/2006/relationships/notesMaster" Target="/ppt/notesMasters/notesMaster1.xml" Id="Rcb11488302cb4f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/home/fachel/dual-heater-mlp-research/README.md</a:t>
            </a:r>
          </a:p>
          <a:p xmlns:a="http://schemas.openxmlformats.org/drawingml/2006/main">
            <a:r>
              <a:t>- /home/fachel/dual-heater-mlp-research/article/manuscript.md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/home/fachel/dual-heater-mlp-research/README.md</a:t>
            </a:r>
          </a:p>
          <a:p xmlns:a="http://schemas.openxmlformats.org/drawingml/2006/main">
            <a:r>
              <a:t>- /home/fachel/dual-heater-mlp-research/docs/functional_slowheat.md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/home/fachel/dual-heater-mlp-research/experiments/visual_generalization.py</a:t>
            </a:r>
          </a:p>
          <a:p xmlns:a="http://schemas.openxmlformats.org/drawingml/2006/main">
            <a:r>
              <a:t>- /home/fachel/dual-heater-mlp-research/experiments/split_mnist.py</a:t>
            </a:r>
          </a:p>
          <a:p xmlns:a="http://schemas.openxmlformats.org/drawingml/2006/main">
            <a:r>
              <a:t>- https://arxiv.org/abs/1904.07734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/home/fachel/dual-heater-mlp-research/docs/functional_slowheat.md</a:t>
            </a:r>
          </a:p>
          <a:p xmlns:a="http://schemas.openxmlformats.org/drawingml/2006/main">
            <a:r>
              <a:t>- /home/fachel/dual-heater-mlp-research/src/dual_heater/slow_heat.py</a:t>
            </a:r>
          </a:p>
          <a:p xmlns:a="http://schemas.openxmlformats.org/drawingml/2006/main">
            <a:r>
              <a:t>- https://research.nvidia.com/publication/2017-04_pruning-convolutional-neural-networks-resource-efficient-inference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/home/fachel/dual-heater-mlp-research/docs/optimizer_semantics.md</a:t>
            </a:r>
          </a:p>
          <a:p xmlns:a="http://schemas.openxmlformats.org/drawingml/2006/main">
            <a:r>
              <a:t>- /home/fachel/dual-heater-mlp-research/src/dual_heater/optim.py</a:t>
            </a:r>
          </a:p>
          <a:p xmlns:a="http://schemas.openxmlformats.org/drawingml/2006/main">
            <a:r>
              <a:t>- https://arxiv.org/abs/1711.05101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/home/fachel/dual-heater-mlp-research/docs/project_methods_and_results.md</a:t>
            </a:r>
          </a:p>
          <a:p xmlns:a="http://schemas.openxmlformats.org/drawingml/2006/main">
            <a:r>
              <a:t>- /home/fachel/dual-heater-mlp-research/experiments/split_mnist_suite.py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https://arxiv.org/abs/1902.10486</a:t>
            </a:r>
          </a:p>
          <a:p xmlns:a="http://schemas.openxmlformats.org/drawingml/2006/main">
            <a:r>
              <a:t>- https://papers.nips.cc/paper/2020/hash/b704ea2c39778f07c617f6b7ce480e9e-Abstract.html</a:t>
            </a:r>
          </a:p>
          <a:p xmlns:a="http://schemas.openxmlformats.org/drawingml/2006/main">
            <a:r>
              <a:t>- /home/fachel/dual-heater-mlp-research/experiments/split_mnist.py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https://openreview.net/forum?id=N8MaByOzUfb</a:t>
            </a:r>
          </a:p>
          <a:p xmlns:a="http://schemas.openxmlformats.org/drawingml/2006/main">
            <a:r>
              <a:t>- https://arxiv.org/abs/1812.00420</a:t>
            </a:r>
          </a:p>
          <a:p xmlns:a="http://schemas.openxmlformats.org/drawingml/2006/main">
            <a:r>
              <a:t>- https://papers.nips.cc/paper/2017/hash/f87522788a2be2d171666752f97ddebb-Abstract.html</a:t>
            </a:r>
          </a:p>
          <a:p xmlns:a="http://schemas.openxmlformats.org/drawingml/2006/main">
            <a:r>
              <a:t>- /home/fachel/dual-heater-mlp-research/experiments/split_mnist.py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https://doi.org/10.1073/pnas.1611835114</a:t>
            </a:r>
          </a:p>
          <a:p xmlns:a="http://schemas.openxmlformats.org/drawingml/2006/main">
            <a:r>
              <a:t>- https://proceedings.mlr.press/v80/schwarz18a.html</a:t>
            </a:r>
          </a:p>
          <a:p xmlns:a="http://schemas.openxmlformats.org/drawingml/2006/main">
            <a:r>
              <a:t>- https://proceedings.mlr.press/v70/zenke17a.html</a:t>
            </a:r>
          </a:p>
          <a:p xmlns:a="http://schemas.openxmlformats.org/drawingml/2006/main">
            <a:r>
              <a:t>- https://doi.org/10.1007/978-3-319-46493-0_37</a:t>
            </a:r>
          </a:p>
          <a:p xmlns:a="http://schemas.openxmlformats.org/drawingml/2006/main">
            <a:r>
              <a:t>- https://arxiv.org/abs/1503.02531</a:t>
            </a:r>
          </a:p>
          <a:p xmlns:a="http://schemas.openxmlformats.org/drawingml/2006/main">
            <a:r>
              <a:t>- /home/fachel/dual-heater-mlp-research/experiments/split_mnist.py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/home/fachel/dual-heater-mlp-research/docs/project_methods_and_results.md</a:t>
            </a:r>
          </a:p>
          <a:p xmlns:a="http://schemas.openxmlformats.org/drawingml/2006/main">
            <a:r>
              <a:t>- /home/fachel/dual-heater-mlp-research/docs/functional_slowheat.md</a:t>
            </a:r>
          </a:p>
          <a:p xmlns:a="http://schemas.openxmlformats.org/drawingml/2006/main">
            <a:r>
              <a:t>- https://research.nvidia.com/publication/2017-04_pruning-convolutional-neural-networks-resource-efficient-inference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/home/fachel/dual-heater-mlp-research/results/permutated_mnist_download.csv</a:t>
            </a:r>
          </a:p>
          <a:p xmlns:a="http://schemas.openxmlformats.org/drawingml/2006/main">
            <a:r>
              <a:t>- /home/fachel/dual-heater-mlp-research/experiments/visual_generalization.py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/home/fachel/dual-heater-mlp-research/results/split_mniist_results.csv</a:t>
            </a:r>
          </a:p>
          <a:p xmlns:a="http://schemas.openxmlformats.org/drawingml/2006/main">
            <a:r>
              <a:t>- /home/fachel/dual-heater-mlp-research/experiments/split_mnist.py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/home/fachel/dual-heater-mlp-research/results/split_mniist_results.csv</a:t>
            </a:r>
          </a:p>
          <a:p xmlns:a="http://schemas.openxmlformats.org/drawingml/2006/main">
            <a:r>
              <a:t>- /home/fachel/dual-heater-mlp-research/docs/project_methods_and_results.md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/home/fachel/dual-heater-mlp-research/results/split_mniist_results.csv</a:t>
            </a:r>
          </a:p>
          <a:p xmlns:a="http://schemas.openxmlformats.org/drawingml/2006/main">
            <a:r>
              <a:t>- /home/fachel/dual-heater-mlp-research/docs/optimizer_semantics.md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/home/fachel/dual-heater-mlp-research/results/split_mniist_results.csv</a:t>
            </a:r>
          </a:p>
          <a:p xmlns:a="http://schemas.openxmlformats.org/drawingml/2006/main">
            <a:r>
              <a:t>- /home/fachel/dual-heater-mlp-research/results/permutated_mnist_download.csv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/home/fachel/dual-heater-mlp-research/README.md</a:t>
            </a:r>
          </a:p>
          <a:p xmlns:a="http://schemas.openxmlformats.org/drawingml/2006/main">
            <a:r>
              <a:t>- /home/fachel/dual-heater-mlp-research/docs/confirmatory_protocol.md</a:t>
            </a:r>
          </a:p>
          <a:p xmlns:a="http://schemas.openxmlformats.org/drawingml/2006/main">
            <a:r>
              <a:t>- /home/fachel/dual-heater-mlp-research/docs/reproducibility.md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/home/fachel/dual-heater-mlp-research/docs/functional_slowheat.md</a:t>
            </a:r>
          </a:p>
          <a:p xmlns:a="http://schemas.openxmlformats.org/drawingml/2006/main">
            <a:r>
              <a:t>- /home/fachel/dual-heater-mlp-research/docs/optimizer_semantics.md</a:t>
            </a:r>
          </a:p>
          <a:p xmlns:a="http://schemas.openxmlformats.org/drawingml/2006/main">
            <a:r>
              <a:t>- https://research.nvidia.com/publication/2017-04_pruning-convolutional-neural-networks-resource-efficient-inference</a:t>
            </a:r>
          </a:p>
          <a:p xmlns:a="http://schemas.openxmlformats.org/drawingml/2006/main">
            <a:r>
              <a:t>- https://arxiv.org/abs/1711.05101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/home/fachel/dual-heater-mlp-research/docs/functional_slowheat.md</a:t>
            </a:r>
          </a:p>
          <a:p xmlns:a="http://schemas.openxmlformats.org/drawingml/2006/main">
            <a:r>
              <a:t>- https://research.nvidia.com/publication/2017-04_pruning-convolutional-neural-networks-resource-efficient-inference</a:t>
            </a:r>
          </a:p>
          <a:p xmlns:a="http://schemas.openxmlformats.org/drawingml/2006/main">
            <a:r>
              <a:t>- https://arxiv.org/abs/1711.05101</a:t>
            </a:r>
          </a:p>
          <a:p xmlns:a="http://schemas.openxmlformats.org/drawingml/2006/main">
            <a:r>
              <a:t>- https://doi.org/10.1073/pnas.1611835114</a:t>
            </a:r>
          </a:p>
          <a:p xmlns:a="http://schemas.openxmlformats.org/drawingml/2006/main">
            <a:r>
              <a:t>- https://arxiv.org/abs/1902.10486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https://arxiv.org/abs/1902.10486</a:t>
            </a:r>
          </a:p>
          <a:p xmlns:a="http://schemas.openxmlformats.org/drawingml/2006/main">
            <a:r>
              <a:t>- https://arxiv.org/abs/1503.02531</a:t>
            </a:r>
          </a:p>
          <a:p xmlns:a="http://schemas.openxmlformats.org/drawingml/2006/main">
            <a:r>
              <a:t>- https://papers.nips.cc/paper/2020/hash/b704ea2c39778f07c617f6b7ce480e9e-Abstract.html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https://openreview.net/forum?id=N8MaByOzUfb</a:t>
            </a:r>
          </a:p>
          <a:p xmlns:a="http://schemas.openxmlformats.org/drawingml/2006/main">
            <a:r>
              <a:t>- https://arxiv.org/abs/1812.00420</a:t>
            </a:r>
          </a:p>
          <a:p xmlns:a="http://schemas.openxmlformats.org/drawingml/2006/main">
            <a:r>
              <a:t>- https://doi.org/10.1073/pnas.1611835114</a:t>
            </a:r>
          </a:p>
          <a:p xmlns:a="http://schemas.openxmlformats.org/drawingml/2006/main">
            <a:r>
              <a:t>- https://proceedings.mlr.press/v70/zenke17a.html</a:t>
            </a:r>
          </a:p>
          <a:p xmlns:a="http://schemas.openxmlformats.org/drawingml/2006/main">
            <a:r>
              <a:t>- https://doi.org/10.1007/978-3-319-46493-0_37</a:t>
            </a:r>
          </a:p>
          <a:p xmlns:a="http://schemas.openxmlformats.org/drawingml/2006/main">
            <a:r>
              <a:t>- https://arxiv.org/abs/1902.10486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/home/fachel/dual-heater-mlp-research/docs/project_methods_and_results.md</a:t>
            </a:r>
          </a:p>
          <a:p xmlns:a="http://schemas.openxmlformats.org/drawingml/2006/main">
            <a:r>
              <a:t>- https://arxiv.org/abs/1902.10486</a:t>
            </a:r>
          </a:p>
          <a:p xmlns:a="http://schemas.openxmlformats.org/drawingml/2006/main">
            <a:r>
              <a:t>- https://doi.org/10.1016/S0893-6080(98)00010-0</a:t>
            </a:r>
          </a:p>
          <a:p xmlns:a="http://schemas.openxmlformats.org/drawingml/2006/main">
            <a:r>
              <a:t>- https://arxiv.org/abs/1711.05101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https://arxiv.org/abs/1412.6980</a:t>
            </a:r>
          </a:p>
          <a:p xmlns:a="http://schemas.openxmlformats.org/drawingml/2006/main">
            <a:r>
              <a:t>- https://arxiv.org/abs/1711.05101</a:t>
            </a:r>
          </a:p>
          <a:p xmlns:a="http://schemas.openxmlformats.org/drawingml/2006/main">
            <a:r>
              <a:t>- https://arxiv.org/abs/1902.10486</a:t>
            </a:r>
          </a:p>
          <a:p xmlns:a="http://schemas.openxmlformats.org/drawingml/2006/main">
            <a:r>
              <a:t>- https://papers.nips.cc/paper/2020/hash/b704ea2c39778f07c617f6b7ce480e9e-Abstract.html</a:t>
            </a:r>
          </a:p>
          <a:p xmlns:a="http://schemas.openxmlformats.org/drawingml/2006/main">
            <a:r>
              <a:t>- https://openreview.net/forum?id=N8MaByOzUfb</a:t>
            </a:r>
          </a:p>
          <a:p xmlns:a="http://schemas.openxmlformats.org/drawingml/2006/main">
            <a:r>
              <a:t>- https://arxiv.org/abs/1812.00420</a:t>
            </a:r>
          </a:p>
          <a:p xmlns:a="http://schemas.openxmlformats.org/drawingml/2006/main">
            <a:r>
              <a:t>- https://doi.org/10.1073/pnas.1611835114</a:t>
            </a:r>
          </a:p>
          <a:p xmlns:a="http://schemas.openxmlformats.org/drawingml/2006/main">
            <a:r>
              <a:t>- https://proceedings.mlr.press/v70/zenke17a.html</a:t>
            </a:r>
          </a:p>
          <a:p xmlns:a="http://schemas.openxmlformats.org/drawingml/2006/main">
            <a:r>
              <a:t>- https://doi.org/10.1007/978-3-319-46493-0_37</a:t>
            </a:r>
          </a:p>
          <a:p xmlns:a="http://schemas.openxmlformats.org/drawingml/2006/main">
            <a:r>
              <a:t>- https://arxiv.org/abs/1503.02531</a:t>
            </a:r>
          </a:p>
          <a:p xmlns:a="http://schemas.openxmlformats.org/drawingml/2006/main">
            <a:r>
              <a:t>- https://research.nvidia.com/publication/2017-04_pruning-convolutional-neural-networks-resource-efficient-inference</a:t>
            </a:r>
          </a:p>
          <a:p xmlns:a="http://schemas.openxmlformats.org/drawingml/2006/main">
            <a:r>
              <a:t>- https://arxiv.org/abs/1904.07734</a:t>
            </a:r>
          </a:p>
          <a:p xmlns:a="http://schemas.openxmlformats.org/drawingml/2006/main">
            <a:r>
              <a:t>- /home/fachel/dual-heater-mlp-research/article/manuscript.md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/home/fachel/dual-heater-mlp-research/results/split_mniist_results.csv</a:t>
            </a:r>
          </a:p>
          <a:p xmlns:a="http://schemas.openxmlformats.org/drawingml/2006/main">
            <a:r>
              <a:t>- /home/fachel/dual-heater-mlp-research/results/permutated_mnist_download.csv</a:t>
            </a:r>
          </a:p>
          <a:p xmlns:a="http://schemas.openxmlformats.org/drawingml/2006/main">
            <a:r>
              <a:t>- /home/fachel/dual-heater-mlp-research/README.md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1ed63918f442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aba17638ab4de8" /><Relationship Type="http://schemas.openxmlformats.org/officeDocument/2006/relationships/slideLayout" Target="/ppt/slideLayouts/slideLayout1.xml" Id="R01ea510d4e6343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ea510d4e6343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51bb7b321463b" /><Relationship Type="http://schemas.openxmlformats.org/officeDocument/2006/relationships/notesSlide" Target="/ppt/notesSlides/notesSlide1.xml" Id="R56df51c09d2b48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f2cad8a834eba" /><Relationship Type="http://schemas.openxmlformats.org/officeDocument/2006/relationships/notesSlide" Target="/ppt/notesSlides/notesSlide2.xml" Id="Ra3729ec93d8448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1090fef48437a" /><Relationship Type="http://schemas.openxmlformats.org/officeDocument/2006/relationships/notesSlide" Target="/ppt/notesSlides/notesSlide3.xml" Id="Rdc9cdbc281864c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76e3fe7f7425c" /><Relationship Type="http://schemas.openxmlformats.org/officeDocument/2006/relationships/notesSlide" Target="/ppt/notesSlides/notesSlide4.xml" Id="Rbc54f520582648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45899d6ea4df4" /><Relationship Type="http://schemas.openxmlformats.org/officeDocument/2006/relationships/notesSlide" Target="/ppt/notesSlides/notesSlide5.xml" Id="R039949e9559846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ffc6e827945f0" /><Relationship Type="http://schemas.openxmlformats.org/officeDocument/2006/relationships/notesSlide" Target="/ppt/notesSlides/notesSlide6.xml" Id="R7024ce92d81c4c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a24711cb94b1a" /><Relationship Type="http://schemas.openxmlformats.org/officeDocument/2006/relationships/hyperlink" Target="https://arxiv.org/abs/1902.10486" TargetMode="External" Id="Re33126a9553b4f79" /><Relationship Type="http://schemas.openxmlformats.org/officeDocument/2006/relationships/hyperlink" Target="https://papers.nips.cc/paper/2020/hash/b704ea2c39778f07c617f6b7ce480e9e-Abstract.html" TargetMode="External" Id="R4f509b036ed34f91" /><Relationship Type="http://schemas.openxmlformats.org/officeDocument/2006/relationships/notesSlide" Target="/ppt/notesSlides/notesSlide7.xml" Id="R7af86c869ed447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8c5666238450e" /><Relationship Type="http://schemas.openxmlformats.org/officeDocument/2006/relationships/hyperlink" Target="https://openreview.net/forum?id=N8MaByOzUfb" TargetMode="External" Id="Ra6e3f927d9d44ccd" /><Relationship Type="http://schemas.openxmlformats.org/officeDocument/2006/relationships/hyperlink" Target="https://arxiv.org/abs/1812.00420" TargetMode="External" Id="Re4eac8042d364488" /><Relationship Type="http://schemas.openxmlformats.org/officeDocument/2006/relationships/notesSlide" Target="/ppt/notesSlides/notesSlide8.xml" Id="Rb777595c888f43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09a6bb4b64062" /><Relationship Type="http://schemas.openxmlformats.org/officeDocument/2006/relationships/hyperlink" Target="https://doi.org/10.1073/pnas.1611835114" TargetMode="External" Id="R5665e1b5c4594eb6" /><Relationship Type="http://schemas.openxmlformats.org/officeDocument/2006/relationships/hyperlink" Target="https://proceedings.mlr.press/v70/zenke17a.html" TargetMode="External" Id="Rbf5f5b12cb4243fc" /><Relationship Type="http://schemas.openxmlformats.org/officeDocument/2006/relationships/hyperlink" Target="https://doi.org/10.1007/978-3-319-46493-0_37" TargetMode="External" Id="R7488b9c403814d80" /><Relationship Type="http://schemas.openxmlformats.org/officeDocument/2006/relationships/notesSlide" Target="/ppt/notesSlides/notesSlide9.xml" Id="R14293dcbf0ba4d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0363aea6c459e" /><Relationship Type="http://schemas.openxmlformats.org/officeDocument/2006/relationships/notesSlide" Target="/ppt/notesSlides/notesSlide10.xml" Id="R51c62a58484144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f7761b04e41a8" /><Relationship Type="http://schemas.openxmlformats.org/officeDocument/2006/relationships/chart" Target="/ppt/slides/charts/chart1.xml" Id="Rc635066238864113" /><Relationship Type="http://schemas.openxmlformats.org/officeDocument/2006/relationships/chart" Target="/ppt/slides/charts/chart2.xml" Id="R772594a94fe54f89" /><Relationship Type="http://schemas.openxmlformats.org/officeDocument/2006/relationships/notesSlide" Target="/ppt/notesSlides/notesSlide11.xml" Id="R924d70b166444b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142542f334d72" /><Relationship Type="http://schemas.openxmlformats.org/officeDocument/2006/relationships/chart" Target="/ppt/slides/charts/chart3.xml" Id="R12f5eecc51e7475f" /><Relationship Type="http://schemas.openxmlformats.org/officeDocument/2006/relationships/chart" Target="/ppt/slides/charts/chart4.xml" Id="Rbae6770cb45f4952" /><Relationship Type="http://schemas.openxmlformats.org/officeDocument/2006/relationships/notesSlide" Target="/ppt/notesSlides/notesSlide12.xml" Id="R41aa54a51b504c7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fde32db144d1e" /><Relationship Type="http://schemas.openxmlformats.org/officeDocument/2006/relationships/chart" Target="/ppt/slides/charts/chart5.xml" Id="Rc7e2718c95af4bf2" /><Relationship Type="http://schemas.openxmlformats.org/officeDocument/2006/relationships/notesSlide" Target="/ppt/notesSlides/notesSlide13.xml" Id="R9565a40ac08441c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ce2a4a2f94b34" /><Relationship Type="http://schemas.openxmlformats.org/officeDocument/2006/relationships/notesSlide" Target="/ppt/notesSlides/notesSlide14.xml" Id="Rdd70a603ddac455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63574ea384f4c" /><Relationship Type="http://schemas.openxmlformats.org/officeDocument/2006/relationships/notesSlide" Target="/ppt/notesSlides/notesSlide15.xml" Id="R624b7d68d21d4a7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cd4c89778409f" /><Relationship Type="http://schemas.openxmlformats.org/officeDocument/2006/relationships/notesSlide" Target="/ppt/notesSlides/notesSlide16.xml" Id="R2dbecac7d711470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35017278c4180" /><Relationship Type="http://schemas.openxmlformats.org/officeDocument/2006/relationships/hyperlink" Target="https://arxiv.org/abs/1711.05101" TargetMode="External" Id="R256bef79abc4450b" /><Relationship Type="http://schemas.openxmlformats.org/officeDocument/2006/relationships/hyperlink" Target="https://research.nvidia.com/publication/2017-04_pruning-convolutional-neural-networks-resource-efficient-inference" TargetMode="External" Id="Re626d463bb9c49ef" /><Relationship Type="http://schemas.openxmlformats.org/officeDocument/2006/relationships/hyperlink" Target="https://research.nvidia.com/publication/2017-04_pruning-convolutional-neural-networks-resource-efficient-inference" TargetMode="External" Id="R396c6f04e60d421b" /><Relationship Type="http://schemas.openxmlformats.org/officeDocument/2006/relationships/hyperlink" Target="https://research.nvidia.com/publication/2017-04_pruning-convolutional-neural-networks-resource-efficient-inference" TargetMode="External" Id="R2346abfd981b4edb" /><Relationship Type="http://schemas.openxmlformats.org/officeDocument/2006/relationships/hyperlink" Target="https://research.nvidia.com/publication/2017-04_pruning-convolutional-neural-networks-resource-efficient-inference" TargetMode="External" Id="R488a3763f1024e29" /><Relationship Type="http://schemas.openxmlformats.org/officeDocument/2006/relationships/hyperlink" Target="https://research.nvidia.com/publication/2017-04_pruning-convolutional-neural-networks-resource-efficient-inference" TargetMode="External" Id="R70db6e82434b425c" /><Relationship Type="http://schemas.openxmlformats.org/officeDocument/2006/relationships/hyperlink" Target="https://arxiv.org/abs/1711.05101" TargetMode="External" Id="Ra2442fc8b5ce490d" /><Relationship Type="http://schemas.openxmlformats.org/officeDocument/2006/relationships/notesSlide" Target="/ppt/notesSlides/notesSlide17.xml" Id="Rdef39df864e3430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ad1ac23b64348" /><Relationship Type="http://schemas.openxmlformats.org/officeDocument/2006/relationships/hyperlink" Target="https://research.nvidia.com/publication/2017-04_pruning-convolutional-neural-networks-resource-efficient-inference" TargetMode="External" Id="Rc3cf10079b5d4864" /><Relationship Type="http://schemas.openxmlformats.org/officeDocument/2006/relationships/hyperlink" Target="https://research.nvidia.com/publication/2017-04_pruning-convolutional-neural-networks-resource-efficient-inference" TargetMode="External" Id="R4a3a2e62833a4469" /><Relationship Type="http://schemas.openxmlformats.org/officeDocument/2006/relationships/hyperlink" Target="https://arxiv.org/abs/1711.05101" TargetMode="External" Id="R4f6fbd6040b24150" /><Relationship Type="http://schemas.openxmlformats.org/officeDocument/2006/relationships/hyperlink" Target="https://doi.org/10.1073/pnas.1611835114" TargetMode="External" Id="Rf141c3eefdb542da" /><Relationship Type="http://schemas.openxmlformats.org/officeDocument/2006/relationships/hyperlink" Target="https://research.nvidia.com/publication/2017-04_pruning-convolutional-neural-networks-resource-efficient-inference" TargetMode="External" Id="R5ccaa1d3af7145f4" /><Relationship Type="http://schemas.openxmlformats.org/officeDocument/2006/relationships/hyperlink" Target="https://arxiv.org/abs/1902.10486" TargetMode="External" Id="R962f791553434aba" /><Relationship Type="http://schemas.openxmlformats.org/officeDocument/2006/relationships/notesSlide" Target="/ppt/notesSlides/notesSlide18.xml" Id="R915736806f2f4c2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019a607d049d6" /><Relationship Type="http://schemas.openxmlformats.org/officeDocument/2006/relationships/hyperlink" Target="https://arxiv.org/abs/1902.10486" TargetMode="External" Id="R68d15f0dcb274337" /><Relationship Type="http://schemas.openxmlformats.org/officeDocument/2006/relationships/hyperlink" Target="https://arxiv.org/abs/1503.02531" TargetMode="External" Id="Rae676c885cf0425f" /><Relationship Type="http://schemas.openxmlformats.org/officeDocument/2006/relationships/hyperlink" Target="https://arxiv.org/abs/1902.10486" TargetMode="External" Id="Rb3d96a5813cf4ac3" /><Relationship Type="http://schemas.openxmlformats.org/officeDocument/2006/relationships/hyperlink" Target="https://arxiv.org/abs/1503.02531" TargetMode="External" Id="Rb09d607fd71f41ed" /><Relationship Type="http://schemas.openxmlformats.org/officeDocument/2006/relationships/hyperlink" Target="https://papers.nips.cc/paper/2020/hash/b704ea2c39778f07c617f6b7ce480e9e-Abstract.html" TargetMode="External" Id="R653302987e704632" /><Relationship Type="http://schemas.openxmlformats.org/officeDocument/2006/relationships/hyperlink" Target="https://papers.nips.cc/paper/2020/hash/b704ea2c39778f07c617f6b7ce480e9e-Abstract.html" TargetMode="External" Id="R6532e10277044959" /><Relationship Type="http://schemas.openxmlformats.org/officeDocument/2006/relationships/notesSlide" Target="/ppt/notesSlides/notesSlide19.xml" Id="R5304fc4eb22b459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4abb7ffa84935" /><Relationship Type="http://schemas.openxmlformats.org/officeDocument/2006/relationships/hyperlink" Target="https://openreview.net/forum?id=N8MaByOzUfb" TargetMode="External" Id="R7465b0245cd74ccb" /><Relationship Type="http://schemas.openxmlformats.org/officeDocument/2006/relationships/hyperlink" Target="https://arxiv.org/abs/1812.00420" TargetMode="External" Id="R303f1229be3f4546" /><Relationship Type="http://schemas.openxmlformats.org/officeDocument/2006/relationships/hyperlink" Target="https://doi.org/10.1073/pnas.1611835114" TargetMode="External" Id="R647ac8b979f9486c" /><Relationship Type="http://schemas.openxmlformats.org/officeDocument/2006/relationships/hyperlink" Target="https://proceedings.mlr.press/v70/zenke17a.html" TargetMode="External" Id="R542c87e598ae49e9" /><Relationship Type="http://schemas.openxmlformats.org/officeDocument/2006/relationships/hyperlink" Target="https://doi.org/10.1007/978-3-319-46493-0_37" TargetMode="External" Id="R7a608a2ab4e14deb" /><Relationship Type="http://schemas.openxmlformats.org/officeDocument/2006/relationships/hyperlink" Target="https://arxiv.org/abs/1902.10486" TargetMode="External" Id="Rbff269995dbb4b4b" /><Relationship Type="http://schemas.openxmlformats.org/officeDocument/2006/relationships/notesSlide" Target="/ppt/notesSlides/notesSlide20.xml" Id="Rdea911738efe402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fcbb4613740a5" /><Relationship Type="http://schemas.openxmlformats.org/officeDocument/2006/relationships/hyperlink" Target="https://arxiv.org/abs/1902.10486" TargetMode="External" Id="Rc2ea76a141ac4595" /><Relationship Type="http://schemas.openxmlformats.org/officeDocument/2006/relationships/hyperlink" Target="https://doi.org/10.1016/S0893-6080(98)00010-0" TargetMode="External" Id="R645079384435497e" /><Relationship Type="http://schemas.openxmlformats.org/officeDocument/2006/relationships/hyperlink" Target="https://arxiv.org/abs/1711.05101" TargetMode="External" Id="R9d230cd3e9a54c98" /><Relationship Type="http://schemas.openxmlformats.org/officeDocument/2006/relationships/hyperlink" Target="https://arxiv.org/abs/1902.10486" TargetMode="External" Id="R873ccf09c6064a9e" /><Relationship Type="http://schemas.openxmlformats.org/officeDocument/2006/relationships/hyperlink" Target="https://arxiv.org/abs/1902.10486" TargetMode="External" Id="R5b6a12c8ab4b4461" /><Relationship Type="http://schemas.openxmlformats.org/officeDocument/2006/relationships/hyperlink" Target="https://arxiv.org/abs/1902.10486" TargetMode="External" Id="Rbbd7989130bb4919" /><Relationship Type="http://schemas.openxmlformats.org/officeDocument/2006/relationships/notesSlide" Target="/ppt/notesSlides/notesSlide21.xml" Id="R26724ebd8ee2420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1a7d84873443d" /><Relationship Type="http://schemas.openxmlformats.org/officeDocument/2006/relationships/hyperlink" Target="https://arxiv.org/abs/1412.6980" TargetMode="External" Id="Ra02b588d4f964936" /><Relationship Type="http://schemas.openxmlformats.org/officeDocument/2006/relationships/hyperlink" Target="https://arxiv.org/abs/1711.05101" TargetMode="External" Id="R0c6f511cd5374a54" /><Relationship Type="http://schemas.openxmlformats.org/officeDocument/2006/relationships/hyperlink" Target="https://arxiv.org/abs/1902.10486" TargetMode="External" Id="Ra2e5da576ff24609" /><Relationship Type="http://schemas.openxmlformats.org/officeDocument/2006/relationships/hyperlink" Target="https://papers.nips.cc/paper/2020/hash/b704ea2c39778f07c617f6b7ce480e9e-Abstract.html" TargetMode="External" Id="R75b0817a4edd496b" /><Relationship Type="http://schemas.openxmlformats.org/officeDocument/2006/relationships/hyperlink" Target="https://openreview.net/forum?id=N8MaByOzUfb" TargetMode="External" Id="R8b32521b1adf4aae" /><Relationship Type="http://schemas.openxmlformats.org/officeDocument/2006/relationships/hyperlink" Target="https://arxiv.org/abs/1812.00420" TargetMode="External" Id="Re99a3edfd95a47b2" /><Relationship Type="http://schemas.openxmlformats.org/officeDocument/2006/relationships/hyperlink" Target="https://doi.org/10.1073/pnas.1611835114" TargetMode="External" Id="Re03ae74fc7eb4e8a" /><Relationship Type="http://schemas.openxmlformats.org/officeDocument/2006/relationships/hyperlink" Target="https://proceedings.mlr.press/v70/zenke17a.html" TargetMode="External" Id="Rcb7a2cbad5bc421f" /><Relationship Type="http://schemas.openxmlformats.org/officeDocument/2006/relationships/hyperlink" Target="https://doi.org/10.1007/978-3-319-46493-0_37" TargetMode="External" Id="R6878304e16a74aa8" /><Relationship Type="http://schemas.openxmlformats.org/officeDocument/2006/relationships/hyperlink" Target="https://arxiv.org/abs/1503.02531" TargetMode="External" Id="Rd05eafb7fa964c99" /><Relationship Type="http://schemas.openxmlformats.org/officeDocument/2006/relationships/hyperlink" Target="https://research.nvidia.com/publication/2017-04_pruning-convolutional-neural-networks-resource-efficient-inference" TargetMode="External" Id="Rb839397601564780" /><Relationship Type="http://schemas.openxmlformats.org/officeDocument/2006/relationships/hyperlink" Target="https://arxiv.org/abs/1904.07734" TargetMode="External" Id="R6243c5daf0cd49f3" /><Relationship Type="http://schemas.openxmlformats.org/officeDocument/2006/relationships/notesSlide" Target="/ppt/notesSlides/notesSlide22.xml" Id="Rd4c42fc3f4324c2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9c39b34084a57" /><Relationship Type="http://schemas.openxmlformats.org/officeDocument/2006/relationships/notesSlide" Target="/ppt/notesSlides/notesSlide23.xml" Id="R4ce18bcebe774e5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ACC final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7"/>
              <c:pt idx="0">
                <c:v>Vanilla</c:v>
              </c:pt>
              <c:pt idx="1">
                <c:v>SlowHeat</c:v>
              </c:pt>
              <c:pt idx="2">
                <c:v>SI</c:v>
              </c:pt>
              <c:pt idx="3">
                <c:v>Replay</c:v>
              </c:pt>
              <c:pt idx="4">
                <c:v>SH+R</c:v>
              </c:pt>
              <c:pt idx="5">
                <c:v>DER++</c:v>
              </c:pt>
              <c:pt idx="6">
                <c:v>SH+D</c:v>
              </c:pt>
            </c:strLit>
          </c:cat>
          <c:val>
            <c:numLit>
              <c:formatCode>General</c:formatCode>
              <c:ptCount val="7"/>
              <c:pt idx="0">
                <c:v>71.7</c:v>
              </c:pt>
              <c:pt idx="1">
                <c:v>88.2</c:v>
              </c:pt>
              <c:pt idx="2">
                <c:v>93.1</c:v>
              </c:pt>
              <c:pt idx="3">
                <c:v>93.2</c:v>
              </c:pt>
              <c:pt idx="4">
                <c:v>93.7</c:v>
              </c:pt>
              <c:pt idx="5">
                <c:v>95.5</c:v>
              </c:pt>
              <c:pt idx="6">
                <c:v>95.6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0B12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6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071"/>
                </a:solidFill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Forgetting</c:v>
          </c:tx>
          <c:spPr>
            <a:solidFill xmlns:a="http://schemas.openxmlformats.org/drawingml/2006/main">
              <a:srgbClr val="2E9D72"/>
            </a:solidFill>
          </c:spPr>
          <c:cat>
            <c:strLit>
              <c:ptCount val="7"/>
              <c:pt idx="0">
                <c:v>Vanilla</c:v>
              </c:pt>
              <c:pt idx="1">
                <c:v>SlowHeat</c:v>
              </c:pt>
              <c:pt idx="2">
                <c:v>SI</c:v>
              </c:pt>
              <c:pt idx="3">
                <c:v>Replay</c:v>
              </c:pt>
              <c:pt idx="4">
                <c:v>SH+R</c:v>
              </c:pt>
              <c:pt idx="5">
                <c:v>DER++</c:v>
              </c:pt>
              <c:pt idx="6">
                <c:v>SH+D</c:v>
              </c:pt>
            </c:strLit>
          </c:cat>
          <c:val>
            <c:numLit>
              <c:formatCode>General</c:formatCode>
              <c:ptCount val="7"/>
              <c:pt idx="0">
                <c:v>30.7</c:v>
              </c:pt>
              <c:pt idx="1">
                <c:v>9.5</c:v>
              </c:pt>
              <c:pt idx="2">
                <c:v>3.2</c:v>
              </c:pt>
              <c:pt idx="3">
                <c:v>3.9</c:v>
              </c:pt>
              <c:pt idx="4">
                <c:v>2.6</c:v>
              </c:pt>
              <c:pt idx="5">
                <c:v>0.9</c:v>
              </c:pt>
              <c:pt idx="6">
                <c:v>0.4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071"/>
                </a:solidFill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ACC final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7"/>
              <c:pt idx="0">
                <c:v>Vanilla</c:v>
              </c:pt>
              <c:pt idx="1">
                <c:v>ER-ACE</c:v>
              </c:pt>
              <c:pt idx="2">
                <c:v>Replay</c:v>
              </c:pt>
              <c:pt idx="3">
                <c:v>Early stop</c:v>
              </c:pt>
              <c:pt idx="4">
                <c:v>DER++</c:v>
              </c:pt>
              <c:pt idx="5">
                <c:v>SH + Replay cal.</c:v>
              </c:pt>
              <c:pt idx="6">
                <c:v>SH + DER++</c:v>
              </c:pt>
            </c:strLit>
          </c:cat>
          <c:val>
            <c:numLit>
              <c:formatCode>General</c:formatCode>
              <c:ptCount val="7"/>
              <c:pt idx="0">
                <c:v>19.6</c:v>
              </c:pt>
              <c:pt idx="1">
                <c:v>70.8</c:v>
              </c:pt>
              <c:pt idx="2">
                <c:v>76.3</c:v>
              </c:pt>
              <c:pt idx="3">
                <c:v>77.5</c:v>
              </c:pt>
              <c:pt idx="4">
                <c:v>82.5</c:v>
              </c:pt>
              <c:pt idx="5">
                <c:v>83.9</c:v>
              </c:pt>
              <c:pt idx="6">
                <c:v>85.1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0B12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90"/>
          <c:min val="1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071"/>
                </a:solidFill>
              </a:defRPr>
            </a:pPr>
          </a:p>
        </c:txPr>
        <c:crossAx val="48650112"/>
        <c:crossBetween val="between"/>
        <c:majorUnit val="1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Forgetting</c:v>
          </c:tx>
          <c:spPr>
            <a:solidFill xmlns:a="http://schemas.openxmlformats.org/drawingml/2006/main">
              <a:srgbClr val="2E9D72"/>
            </a:solidFill>
          </c:spPr>
          <c:cat>
            <c:strLit>
              <c:ptCount val="7"/>
              <c:pt idx="0">
                <c:v>Vanilla</c:v>
              </c:pt>
              <c:pt idx="1">
                <c:v>ER-ACE</c:v>
              </c:pt>
              <c:pt idx="2">
                <c:v>Replay</c:v>
              </c:pt>
              <c:pt idx="3">
                <c:v>Early stop</c:v>
              </c:pt>
              <c:pt idx="4">
                <c:v>DER++</c:v>
              </c:pt>
              <c:pt idx="5">
                <c:v>SH + Replay cal.</c:v>
              </c:pt>
              <c:pt idx="6">
                <c:v>SH + DER++</c:v>
              </c:pt>
            </c:strLit>
          </c:cat>
          <c:val>
            <c:numLit>
              <c:formatCode>General</c:formatCode>
              <c:ptCount val="7"/>
              <c:pt idx="0">
                <c:v>99.3</c:v>
              </c:pt>
              <c:pt idx="1">
                <c:v>4.3</c:v>
              </c:pt>
              <c:pt idx="2">
                <c:v>28.2</c:v>
              </c:pt>
              <c:pt idx="3">
                <c:v>25.6</c:v>
              </c:pt>
              <c:pt idx="4">
                <c:v>20.4</c:v>
              </c:pt>
              <c:pt idx="5">
                <c:v>17</c:v>
              </c:pt>
              <c:pt idx="6">
                <c:v>16.2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0B12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071"/>
                </a:solidFill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Class-incremental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6"/>
              <c:pt idx="0">
                <c:v>Vanilla</c:v>
              </c:pt>
              <c:pt idx="1">
                <c:v>LwF</c:v>
              </c:pt>
              <c:pt idx="2">
                <c:v>A-GEM</c:v>
              </c:pt>
              <c:pt idx="3">
                <c:v>Replay</c:v>
              </c:pt>
              <c:pt idx="4">
                <c:v>DER++</c:v>
              </c:pt>
              <c:pt idx="5">
                <c:v>SH + DER++</c:v>
              </c:pt>
            </c:strLit>
          </c:cat>
          <c:val>
            <c:numLit>
              <c:formatCode>General</c:formatCode>
              <c:ptCount val="6"/>
              <c:pt idx="0">
                <c:v>19.596</c:v>
              </c:pt>
              <c:pt idx="1">
                <c:v>19.605999999999998</c:v>
              </c:pt>
              <c:pt idx="2">
                <c:v>20.192</c:v>
              </c:pt>
              <c:pt idx="3">
                <c:v>76.268</c:v>
              </c:pt>
              <c:pt idx="4">
                <c:v>82.50399999999999</c:v>
              </c:pt>
              <c:pt idx="5">
                <c:v>85.062</c:v>
              </c:pt>
            </c:numLit>
          </c:val>
        </c:ser>
        <c:ser>
          <c:idx val="1"/>
          <c:order val="1"/>
          <c:tx>
            <c:v>Task-aware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6"/>
              <c:pt idx="0">
                <c:v>Vanilla</c:v>
              </c:pt>
              <c:pt idx="1">
                <c:v>LwF</c:v>
              </c:pt>
              <c:pt idx="2">
                <c:v>A-GEM</c:v>
              </c:pt>
              <c:pt idx="3">
                <c:v>Replay</c:v>
              </c:pt>
              <c:pt idx="4">
                <c:v>DER++</c:v>
              </c:pt>
              <c:pt idx="5">
                <c:v>SH + DER++</c:v>
              </c:pt>
            </c:strLit>
          </c:cat>
          <c:val>
            <c:numLit>
              <c:formatCode>General</c:formatCode>
              <c:ptCount val="6"/>
              <c:pt idx="0">
                <c:v>65.352</c:v>
              </c:pt>
              <c:pt idx="1">
                <c:v>88.50800000000001</c:v>
              </c:pt>
              <c:pt idx="2">
                <c:v>91.60199999999999</c:v>
              </c:pt>
              <c:pt idx="3">
                <c:v>98.31200000000001</c:v>
              </c:pt>
              <c:pt idx="4">
                <c:v>98.52999999999999</c:v>
              </c:pt>
              <c:pt idx="5">
                <c:v>98.38000000000001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22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71"/>
                </a:solidFill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0B122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60820D49-B10D-4CEC-9178-F4D353D8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APRENDIZAGEM CONTINUA · PROTOTIPO DE PESQUISA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973DF99-17B2-4900-A6A0-E0F90536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571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9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Functional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9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SlowHeat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51D1092-CEFD-42D4-9B41-6C4B85B9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54768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Plasticidade por neuronio, baselines publicados e resultados preliminares em Split-MNIST e Permuted-MNIST</a:t>
            </a:r>
          </a:p>
        </p:txBody>
      </p:sp>
      <p:sp>
        <p:nvSpPr>
          <p:cNvPr id="4" name="cover-field">
            <a:extLst xmlns:a="http://schemas.openxmlformats.org/drawingml/2006/main">
              <a:ext uri="{FF2B5EF4-FFF2-40B4-BE49-F238E27FC236}">
                <a16:creationId xmlns:a16="http://schemas.microsoft.com/office/drawing/2014/main" id="{CF86DCFD-6FAC-4441-987A-7F4D0FAF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"/>
            <a:ext cx="5314950" cy="5619750"/>
          </a:xfrm>
          <a:prstGeom xmlns:a="http://schemas.openxmlformats.org/drawingml/2006/main" prst="roundRect">
            <a:avLst>
              <a:gd name="adj" fmla="val 143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cover-equation">
            <a:extLst xmlns:a="http://schemas.openxmlformats.org/drawingml/2006/main">
              <a:ext uri="{FF2B5EF4-FFF2-40B4-BE49-F238E27FC236}">
                <a16:creationId xmlns:a16="http://schemas.microsoft.com/office/drawing/2014/main" id="{1C689565-6309-47F6-B651-A3A5DC5A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2001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uᵢ = |zᵢ · ∂L/∂zᵢ|</a:t>
            </a:r>
          </a:p>
        </p:txBody>
      </p:sp>
      <p:sp>
        <p:nvSpPr>
          <p:cNvPr id="6" name="cover-flow">
            <a:extLst xmlns:a="http://schemas.openxmlformats.org/drawingml/2006/main">
              <a:ext uri="{FF2B5EF4-FFF2-40B4-BE49-F238E27FC236}">
                <a16:creationId xmlns:a16="http://schemas.microsoft.com/office/drawing/2014/main" id="{557FD80F-4DD8-44DE-95B4-7FD3B0B4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38375"/>
            <a:ext cx="39433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medir utilidade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consolidar evidencia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reservar capacidade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mascarar o update final</a:t>
            </a:r>
          </a:p>
        </p:txBody>
      </p:sp>
      <p:sp>
        <p:nvSpPr>
          <p:cNvPr id="7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D9070095-E67D-4FBD-8385-122087DD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1720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31 configuracoes · 2 benchmarks · 10 seeds</a:t>
            </a:r>
          </a:p>
        </p:txBody>
      </p:sp>
      <p:sp>
        <p:nvSpPr>
          <p:cNvPr id="8" name="cover-date">
            <a:extLst xmlns:a="http://schemas.openxmlformats.org/drawingml/2006/main">
              <a:ext uri="{FF2B5EF4-FFF2-40B4-BE49-F238E27FC236}">
                <a16:creationId xmlns:a16="http://schemas.microsoft.com/office/drawing/2014/main" id="{ECE335C3-C272-4F8C-900A-DB977360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436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Revisao: 19 ago 2026</a:t>
            </a:r>
          </a:p>
        </p:txBody>
      </p:sp>
      <p:sp>
        <p:nvSpPr>
          <p:cNvPr id="9" name="footer-1">
            <a:extLst xmlns:a="http://schemas.openxmlformats.org/drawingml/2006/main">
              <a:ext uri="{FF2B5EF4-FFF2-40B4-BE49-F238E27FC236}">
                <a16:creationId xmlns:a16="http://schemas.microsoft.com/office/drawing/2014/main" id="{7CA83E89-D4CB-4BF6-BC5F-ABFF46BD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Resultados preliminares  |  n = 10 seeds</a:t>
            </a:r>
          </a:p>
        </p:txBody>
      </p:sp>
      <p:sp>
        <p:nvSpPr>
          <p:cNvPr id="10" name="page-1">
            <a:extLst xmlns:a="http://schemas.openxmlformats.org/drawingml/2006/main">
              <a:ext uri="{FF2B5EF4-FFF2-40B4-BE49-F238E27FC236}">
                <a16:creationId xmlns:a16="http://schemas.microsoft.com/office/drawing/2014/main" id="{5D99CC62-9A78-44AE-B7D9-80183B3A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177409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4B0D4888-FFBA-4975-A952-A1B7CD33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FUNCTIONAL SLOWHEAT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EF4A63F-D11A-419D-B5A6-AFF2320C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Estabilidade e plasticidade precisam coexistir</a:t>
            </a:r>
          </a:p>
        </p:txBody>
      </p:sp>
      <p:sp>
        <p:nvSpPr>
          <p:cNvPr id="3" name="rule-42-125">
            <a:extLst xmlns:a="http://schemas.openxmlformats.org/drawingml/2006/main">
              <a:ext uri="{FF2B5EF4-FFF2-40B4-BE49-F238E27FC236}">
                <a16:creationId xmlns:a16="http://schemas.microsoft.com/office/drawing/2014/main" id="{2D388719-57D8-4FBA-9BAC-7042D9AC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blem-left-head">
            <a:extLst xmlns:a="http://schemas.openxmlformats.org/drawingml/2006/main">
              <a:ext uri="{FF2B5EF4-FFF2-40B4-BE49-F238E27FC236}">
                <a16:creationId xmlns:a16="http://schemas.microsoft.com/office/drawing/2014/main" id="{03AFA987-1E54-46F3-ACEE-BA9734A0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Quando tudo permanece plastico</a:t>
            </a:r>
          </a:p>
        </p:txBody>
      </p:sp>
      <p:sp>
        <p:nvSpPr>
          <p:cNvPr id="5" name="problem-left-copy">
            <a:extLst xmlns:a="http://schemas.openxmlformats.org/drawingml/2006/main">
              <a:ext uri="{FF2B5EF4-FFF2-40B4-BE49-F238E27FC236}">
                <a16:creationId xmlns:a16="http://schemas.microsoft.com/office/drawing/2014/main" id="{4CDC7583-9142-4899-BB91-EFD8D3C2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Tarefas novas sobrescrevem caminhos uteis. O modelo aprende o presente e perde desempenho nas tarefas anteriores.</a:t>
            </a:r>
          </a:p>
        </p:txBody>
      </p:sp>
      <p:sp>
        <p:nvSpPr>
          <p:cNvPr id="6" name="problem-right-head">
            <a:extLst xmlns:a="http://schemas.openxmlformats.org/drawingml/2006/main">
              <a:ext uri="{FF2B5EF4-FFF2-40B4-BE49-F238E27FC236}">
                <a16:creationId xmlns:a16="http://schemas.microsoft.com/office/drawing/2014/main" id="{D2D47C75-5361-4E1A-82EF-328BABE1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621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Quando tudo e protegido</a:t>
            </a:r>
          </a:p>
        </p:txBody>
      </p:sp>
      <p:sp>
        <p:nvSpPr>
          <p:cNvPr id="7" name="problem-right-copy">
            <a:extLst xmlns:a="http://schemas.openxmlformats.org/drawingml/2006/main">
              <a:ext uri="{FF2B5EF4-FFF2-40B4-BE49-F238E27FC236}">
                <a16:creationId xmlns:a16="http://schemas.microsoft.com/office/drawing/2014/main" id="{99C8D04C-5B05-4EC9-8900-01BB3147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A rede preserva o passado, mas bloqueia a aquisicao de tarefas novas. Retencao sem plasticidade tambem falha.</a:t>
            </a:r>
          </a:p>
        </p:txBody>
      </p:sp>
      <p:sp>
        <p:nvSpPr>
          <p:cNvPr id="8" name="rule-620-154">
            <a:extLst xmlns:a="http://schemas.openxmlformats.org/drawingml/2006/main">
              <a:ext uri="{FF2B5EF4-FFF2-40B4-BE49-F238E27FC236}">
                <a16:creationId xmlns:a16="http://schemas.microsoft.com/office/drawing/2014/main" id="{4CBD1981-73BA-4F3F-93C5-13410E40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66850"/>
            <a:ext cx="95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uestion">
            <a:extLst xmlns:a="http://schemas.openxmlformats.org/drawingml/2006/main">
              <a:ext uri="{FF2B5EF4-FFF2-40B4-BE49-F238E27FC236}">
                <a16:creationId xmlns:a16="http://schemas.microsoft.com/office/drawing/2014/main" id="{BE0D5545-1BE1-49E2-94CD-BD0602AC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Pergunta central</a:t>
            </a:r>
          </a:p>
        </p:txBody>
      </p:sp>
      <p:sp>
        <p:nvSpPr>
          <p:cNvPr id="10" name="question-copy">
            <a:extLst xmlns:a="http://schemas.openxmlformats.org/drawingml/2006/main">
              <a:ext uri="{FF2B5EF4-FFF2-40B4-BE49-F238E27FC236}">
                <a16:creationId xmlns:a16="http://schemas.microsoft.com/office/drawing/2014/main" id="{1575AE24-B21E-4C7E-B122-AE877F8D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 possivel proteger seletivamente neuronios importantes e, ao mesmo tempo, garantir uma fracao minima de capacidade livre?</a:t>
            </a:r>
          </a:p>
        </p:txBody>
      </p:sp>
      <p:sp>
        <p:nvSpPr>
          <p:cNvPr id="11" name="footer-2">
            <a:extLst xmlns:a="http://schemas.openxmlformats.org/drawingml/2006/main">
              <a:ext uri="{FF2B5EF4-FFF2-40B4-BE49-F238E27FC236}">
                <a16:creationId xmlns:a16="http://schemas.microsoft.com/office/drawing/2014/main" id="{570C0E80-67D4-4898-AB17-32C15951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Resultados preliminares  |  n = 10 seeds</a:t>
            </a:r>
          </a:p>
        </p:txBody>
      </p:sp>
      <p:sp>
        <p:nvSpPr>
          <p:cNvPr id="12" name="page-2">
            <a:extLst xmlns:a="http://schemas.openxmlformats.org/drawingml/2006/main">
              <a:ext uri="{FF2B5EF4-FFF2-40B4-BE49-F238E27FC236}">
                <a16:creationId xmlns:a16="http://schemas.microsoft.com/office/drawing/2014/main" id="{C806726D-982D-4B95-9826-12BF8D0B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51989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E5A8C9EA-E4E4-4406-9196-C91EAC7A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FUNCTIONAL SLOWHEAT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DB5EE24-9E51-40A0-AFBF-509A597A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6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Os benchmarks isolam dois tipos diferentes de interferencia</a:t>
            </a:r>
          </a:p>
        </p:txBody>
      </p:sp>
      <p:sp>
        <p:nvSpPr>
          <p:cNvPr id="3" name="rule-42-125">
            <a:extLst xmlns:a="http://schemas.openxmlformats.org/drawingml/2006/main">
              <a:ext uri="{FF2B5EF4-FFF2-40B4-BE49-F238E27FC236}">
                <a16:creationId xmlns:a16="http://schemas.microsoft.com/office/drawing/2014/main" id="{83E71E73-F0AA-4985-977A-CB343819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plit-head">
            <a:extLst xmlns:a="http://schemas.openxmlformats.org/drawingml/2006/main">
              <a:ext uri="{FF2B5EF4-FFF2-40B4-BE49-F238E27FC236}">
                <a16:creationId xmlns:a16="http://schemas.microsoft.com/office/drawing/2014/main" id="{A55E4944-69BE-4438-9DB3-72CBCE74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Split-MNIST · class-incremental</a:t>
            </a:r>
          </a:p>
        </p:txBody>
      </p:sp>
      <p:sp>
        <p:nvSpPr>
          <p:cNvPr id="5" name="bullets-42-218">
            <a:extLst xmlns:a="http://schemas.openxmlformats.org/drawingml/2006/main">
              <a:ext uri="{FF2B5EF4-FFF2-40B4-BE49-F238E27FC236}">
                <a16:creationId xmlns:a16="http://schemas.microsoft.com/office/drawing/2014/main" id="{6EE0BF28-F3AB-4618-9C0C-6B10D243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095875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00000"/>
              </a:lnSpc>
              <a:spcAft>
                <a:spcPts val="12"/>
              </a:spcAft>
              <a:buNone/>
              <a:defRPr sz="1688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5 tarefas: (0,1), (2,3), (4,5), (6,7), (8,9)</a:t>
            </a:r>
          </a:p>
          <a:p xmlns:a="http://schemas.openxmlformats.org/drawingml/2006/main">
            <a:pPr marL="24" indent="-14" algn="l">
              <a:lnSpc>
                <a:spcPct val="100000"/>
              </a:lnSpc>
              <a:spcAft>
                <a:spcPts val="12"/>
              </a:spcAft>
              <a:buNone/>
              <a:defRPr sz="1688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Uma unica cabeca de 10 classes; sem task ID no teste principal</a:t>
            </a:r>
          </a:p>
          <a:p xmlns:a="http://schemas.openxmlformats.org/drawingml/2006/main">
            <a:pPr marL="24" indent="-14" algn="l">
              <a:lnSpc>
                <a:spcPct val="100000"/>
              </a:lnSpc>
              <a:spcAft>
                <a:spcPts val="12"/>
              </a:spcAft>
              <a:buNone/>
              <a:defRPr sz="1688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MLP 784 → 256 → 128 → 10; 10 epocas por tarefa</a:t>
            </a:r>
          </a:p>
          <a:p xmlns:a="http://schemas.openxmlformats.org/drawingml/2006/main">
            <a:pPr marL="24" indent="-14" algn="l">
              <a:lnSpc>
                <a:spcPct val="100000"/>
              </a:lnSpc>
              <a:spcAft>
                <a:spcPts val="12"/>
              </a:spcAft>
              <a:buNone/>
              <a:defRPr sz="1688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Principal risco: competicao e calibracao entre tarefas</a:t>
            </a:r>
          </a:p>
        </p:txBody>
      </p:sp>
      <p:sp>
        <p:nvSpPr>
          <p:cNvPr id="6" name="perm-head">
            <a:extLst xmlns:a="http://schemas.openxmlformats.org/drawingml/2006/main">
              <a:ext uri="{FF2B5EF4-FFF2-40B4-BE49-F238E27FC236}">
                <a16:creationId xmlns:a16="http://schemas.microsoft.com/office/drawing/2014/main" id="{C988B3AD-3E8F-4177-8359-644E0298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6685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Permuted-MNIST · domain-incremental</a:t>
            </a:r>
          </a:p>
        </p:txBody>
      </p:sp>
      <p:sp>
        <p:nvSpPr>
          <p:cNvPr id="7" name="bullets-665-218">
            <a:extLst xmlns:a="http://schemas.openxmlformats.org/drawingml/2006/main">
              <a:ext uri="{FF2B5EF4-FFF2-40B4-BE49-F238E27FC236}">
                <a16:creationId xmlns:a16="http://schemas.microsoft.com/office/drawing/2014/main" id="{BB5FA3B6-9519-48B8-B8D7-9FDEBAE1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76450"/>
            <a:ext cx="52387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00000"/>
              </a:lnSpc>
              <a:spcAft>
                <a:spcPts val="12"/>
              </a:spcAft>
              <a:buNone/>
              <a:defRPr sz="1688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5 dominios com permutacoes fixas dos 784 pixels</a:t>
            </a:r>
          </a:p>
          <a:p xmlns:a="http://schemas.openxmlformats.org/drawingml/2006/main">
            <a:pPr marL="24" indent="-14" algn="l">
              <a:lnSpc>
                <a:spcPct val="100000"/>
              </a:lnSpc>
              <a:spcAft>
                <a:spcPts val="12"/>
              </a:spcAft>
              <a:buNone/>
              <a:defRPr sz="1688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Todas as tarefas usam as mesmas 10 classes</a:t>
            </a:r>
          </a:p>
          <a:p xmlns:a="http://schemas.openxmlformats.org/drawingml/2006/main">
            <a:pPr marL="24" indent="-14" algn="l">
              <a:lnSpc>
                <a:spcPct val="100000"/>
              </a:lnSpc>
              <a:spcAft>
                <a:spcPts val="12"/>
              </a:spcAft>
              <a:buNone/>
              <a:defRPr sz="1688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MLP 784 → 512 → 256 → 10; 10 epocas por dominio</a:t>
            </a:r>
          </a:p>
          <a:p xmlns:a="http://schemas.openxmlformats.org/drawingml/2006/main">
            <a:pPr marL="24" indent="-14" algn="l">
              <a:lnSpc>
                <a:spcPct val="100000"/>
              </a:lnSpc>
              <a:spcAft>
                <a:spcPts val="12"/>
              </a:spcAft>
              <a:buNone/>
              <a:defRPr sz="1688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Principal risco: preservar representacoes entre dominios</a:t>
            </a:r>
          </a:p>
        </p:txBody>
      </p:sp>
      <p:sp>
        <p:nvSpPr>
          <p:cNvPr id="8" name="protocol-band">
            <a:extLst xmlns:a="http://schemas.openxmlformats.org/drawingml/2006/main">
              <a:ext uri="{FF2B5EF4-FFF2-40B4-BE49-F238E27FC236}">
                <a16:creationId xmlns:a16="http://schemas.microsoft.com/office/drawing/2014/main" id="{0B633B3B-C172-4910-98C0-5F8293FD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11728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tocol-band-text">
            <a:extLst xmlns:a="http://schemas.openxmlformats.org/drawingml/2006/main">
              <a:ext uri="{FF2B5EF4-FFF2-40B4-BE49-F238E27FC236}">
                <a16:creationId xmlns:a16="http://schemas.microsoft.com/office/drawing/2014/main" id="{28465770-F4DA-4F5A-A996-339771C0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4673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Pareado por seed · mesma inicializacao e minibatches · IC95% normal · n = 10</a:t>
            </a:r>
          </a:p>
        </p:txBody>
      </p:sp>
      <p:sp>
        <p:nvSpPr>
          <p:cNvPr id="10" name="footer-3">
            <a:extLst xmlns:a="http://schemas.openxmlformats.org/drawingml/2006/main">
              <a:ext uri="{FF2B5EF4-FFF2-40B4-BE49-F238E27FC236}">
                <a16:creationId xmlns:a16="http://schemas.microsoft.com/office/drawing/2014/main" id="{5D619194-585C-4006-8AD4-884C51CF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Resultados preliminares  |  n = 10 seeds</a:t>
            </a:r>
          </a:p>
        </p:txBody>
      </p:sp>
      <p:sp>
        <p:nvSpPr>
          <p:cNvPr id="11" name="page-3">
            <a:extLst xmlns:a="http://schemas.openxmlformats.org/drawingml/2006/main">
              <a:ext uri="{FF2B5EF4-FFF2-40B4-BE49-F238E27FC236}">
                <a16:creationId xmlns:a16="http://schemas.microsoft.com/office/drawing/2014/main" id="{FE18BA30-84F3-48F9-BCCE-11BA305E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436987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69C43570-A2CE-4415-AA86-35D50310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FUNCTIONAL SLOWHEAT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A1B4EA2-6624-40BF-99FF-720F631E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SlowHeat converte utilidade em protecao seletiva</a:t>
            </a:r>
          </a:p>
        </p:txBody>
      </p:sp>
      <p:sp>
        <p:nvSpPr>
          <p:cNvPr id="3" name="rule-42-125">
            <a:extLst xmlns:a="http://schemas.openxmlformats.org/drawingml/2006/main">
              <a:ext uri="{FF2B5EF4-FFF2-40B4-BE49-F238E27FC236}">
                <a16:creationId xmlns:a16="http://schemas.microsoft.com/office/drawing/2014/main" id="{F244DEBD-FC0B-4702-B792-52021229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ep-num-0">
            <a:extLst xmlns:a="http://schemas.openxmlformats.org/drawingml/2006/main">
              <a:ext uri="{FF2B5EF4-FFF2-40B4-BE49-F238E27FC236}">
                <a16:creationId xmlns:a16="http://schemas.microsoft.com/office/drawing/2014/main" id="{27EA3155-34DB-4995-B340-B6A58158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07E34B61-0361-4B92-9F07-630EA93D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Medir</a:t>
            </a:r>
          </a:p>
        </p:txBody>
      </p:sp>
      <p:sp>
        <p:nvSpPr>
          <p:cNvPr id="6" name="step-copy-0">
            <a:extLst xmlns:a="http://schemas.openxmlformats.org/drawingml/2006/main">
              <a:ext uri="{FF2B5EF4-FFF2-40B4-BE49-F238E27FC236}">
                <a16:creationId xmlns:a16="http://schemas.microsoft.com/office/drawing/2014/main" id="{03ECD3F7-6F27-4C04-BDD8-3E87E63B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247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Acumula |z · ∂L/∂z| por unidade e normaliza dentro da camada.</a:t>
            </a:r>
          </a:p>
        </p:txBody>
      </p:sp>
      <p:sp>
        <p:nvSpPr>
          <p:cNvPr id="7" name="rule-320-160">
            <a:extLst xmlns:a="http://schemas.openxmlformats.org/drawingml/2006/main">
              <a:ext uri="{FF2B5EF4-FFF2-40B4-BE49-F238E27FC236}">
                <a16:creationId xmlns:a16="http://schemas.microsoft.com/office/drawing/2014/main" id="{6E136685-DC54-41D5-AB8B-C568BBFE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24000"/>
            <a:ext cx="9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num-1">
            <a:extLst xmlns:a="http://schemas.openxmlformats.org/drawingml/2006/main">
              <a:ext uri="{FF2B5EF4-FFF2-40B4-BE49-F238E27FC236}">
                <a16:creationId xmlns:a16="http://schemas.microsoft.com/office/drawing/2014/main" id="{5173DC8D-9D54-4669-BD71-D7F716A4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F1ED915B-5E74-4B2B-84CA-DEFC87C1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Consolidar</a:t>
            </a:r>
          </a:p>
        </p:txBody>
      </p:sp>
      <p:sp>
        <p:nvSpPr>
          <p:cNvPr id="10" name="step-copy-1">
            <a:extLst xmlns:a="http://schemas.openxmlformats.org/drawingml/2006/main">
              <a:ext uri="{FF2B5EF4-FFF2-40B4-BE49-F238E27FC236}">
                <a16:creationId xmlns:a16="http://schemas.microsoft.com/office/drawing/2014/main" id="{62868832-BA0B-4DDD-8FA6-7E9AA598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86050"/>
            <a:ext cx="247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Na fronteira da tarefa, combina a evidencia persistente por max, media ou soma.</a:t>
            </a:r>
          </a:p>
        </p:txBody>
      </p:sp>
      <p:sp>
        <p:nvSpPr>
          <p:cNvPr id="11" name="rule-618-160">
            <a:extLst xmlns:a="http://schemas.openxmlformats.org/drawingml/2006/main">
              <a:ext uri="{FF2B5EF4-FFF2-40B4-BE49-F238E27FC236}">
                <a16:creationId xmlns:a16="http://schemas.microsoft.com/office/drawing/2014/main" id="{F93A01F2-3105-4D51-B3B0-E0AC7FD4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524000"/>
            <a:ext cx="9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num-2">
            <a:extLst xmlns:a="http://schemas.openxmlformats.org/drawingml/2006/main">
              <a:ext uri="{FF2B5EF4-FFF2-40B4-BE49-F238E27FC236}">
                <a16:creationId xmlns:a16="http://schemas.microsoft.com/office/drawing/2014/main" id="{6A3132CC-DF26-4D15-AED1-CDCB1A6A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04950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BA8F4F04-85BA-4A48-8263-32509355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90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Reservar</a:t>
            </a:r>
          </a:p>
        </p:txBody>
      </p:sp>
      <p:sp>
        <p:nvSpPr>
          <p:cNvPr id="14" name="step-copy-2">
            <a:extLst xmlns:a="http://schemas.openxmlformats.org/drawingml/2006/main">
              <a:ext uri="{FF2B5EF4-FFF2-40B4-BE49-F238E27FC236}">
                <a16:creationId xmlns:a16="http://schemas.microsoft.com/office/drawing/2014/main" id="{B392B161-BF41-42E6-8E36-4435F1A0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86050"/>
            <a:ext cx="247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Um ranking limita quantas unidades ficam protegidas; o budget preserva plasticidade.</a:t>
            </a:r>
          </a:p>
        </p:txBody>
      </p:sp>
      <p:sp>
        <p:nvSpPr>
          <p:cNvPr id="15" name="rule-916-160">
            <a:extLst xmlns:a="http://schemas.openxmlformats.org/drawingml/2006/main">
              <a:ext uri="{FF2B5EF4-FFF2-40B4-BE49-F238E27FC236}">
                <a16:creationId xmlns:a16="http://schemas.microsoft.com/office/drawing/2014/main" id="{EC0AECE6-902B-45C6-941A-3B65E1B8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524000"/>
            <a:ext cx="9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ep-num-3">
            <a:extLst xmlns:a="http://schemas.openxmlformats.org/drawingml/2006/main">
              <a:ext uri="{FF2B5EF4-FFF2-40B4-BE49-F238E27FC236}">
                <a16:creationId xmlns:a16="http://schemas.microsoft.com/office/drawing/2014/main" id="{DF163140-BA02-4800-8E2A-9DFCA96D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504950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EFE52E5D-E8F8-4284-8623-84D2356F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90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Aplicar</a:t>
            </a:r>
          </a:p>
        </p:txBody>
      </p:sp>
      <p:sp>
        <p:nvSpPr>
          <p:cNvPr id="18" name="step-copy-3">
            <a:extLst xmlns:a="http://schemas.openxmlformats.org/drawingml/2006/main">
              <a:ext uri="{FF2B5EF4-FFF2-40B4-BE49-F238E27FC236}">
                <a16:creationId xmlns:a16="http://schemas.microsoft.com/office/drawing/2014/main" id="{535F3AA3-537B-4B5C-B35C-52560E97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86050"/>
            <a:ext cx="247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A mascara fatorada protege a linha de entrada e as colunas de saida do neuronio.</a:t>
            </a:r>
          </a:p>
        </p:txBody>
      </p:sp>
      <p:sp>
        <p:nvSpPr>
          <p:cNvPr id="19" name="equation-band">
            <a:extLst xmlns:a="http://schemas.openxmlformats.org/drawingml/2006/main">
              <a:ext uri="{FF2B5EF4-FFF2-40B4-BE49-F238E27FC236}">
                <a16:creationId xmlns:a16="http://schemas.microsoft.com/office/drawing/2014/main" id="{8A18102D-DE49-49E5-AE24-D1476064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111728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quation">
            <a:extLst xmlns:a="http://schemas.openxmlformats.org/drawingml/2006/main">
              <a:ext uri="{FF2B5EF4-FFF2-40B4-BE49-F238E27FC236}">
                <a16:creationId xmlns:a16="http://schemas.microsoft.com/office/drawing/2014/main" id="{D744874A-8E60-401E-87D6-03B8EAD5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4475"/>
            <a:ext cx="106013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mᵢ = 1 / (1 + β · slow_heatᵢ)    ·    Mₗ[i,j] = min(m_destino[i], m_origem[j])</a:t>
            </a:r>
          </a:p>
        </p:txBody>
      </p:sp>
      <p:sp>
        <p:nvSpPr>
          <p:cNvPr id="21" name="footer-4">
            <a:extLst xmlns:a="http://schemas.openxmlformats.org/drawingml/2006/main">
              <a:ext uri="{FF2B5EF4-FFF2-40B4-BE49-F238E27FC236}">
                <a16:creationId xmlns:a16="http://schemas.microsoft.com/office/drawing/2014/main" id="{AB556E0C-17B4-445E-8677-8D145070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Resultados preliminares  |  n = 10 seeds</a:t>
            </a:r>
          </a:p>
        </p:txBody>
      </p:sp>
      <p:sp>
        <p:nvSpPr>
          <p:cNvPr id="22" name="page-4">
            <a:extLst xmlns:a="http://schemas.openxmlformats.org/drawingml/2006/main">
              <a:ext uri="{FF2B5EF4-FFF2-40B4-BE49-F238E27FC236}">
                <a16:creationId xmlns:a16="http://schemas.microsoft.com/office/drawing/2014/main" id="{62023E9A-1968-4F78-87E6-5C8E68E5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787791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5418AF98-BB15-4C4A-9260-4C697EB0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FUNCTIONAL SLOWHEAT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885C075-7ABA-4063-9EAD-24FDF576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0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 mascara atua no delta final - inclusive no weight decay</a:t>
            </a:r>
          </a:p>
        </p:txBody>
      </p:sp>
      <p:sp>
        <p:nvSpPr>
          <p:cNvPr id="3" name="rule-42-125">
            <a:extLst xmlns:a="http://schemas.openxmlformats.org/drawingml/2006/main">
              <a:ext uri="{FF2B5EF4-FFF2-40B4-BE49-F238E27FC236}">
                <a16:creationId xmlns:a16="http://schemas.microsoft.com/office/drawing/2014/main" id="{6CB53F46-5963-4E12-8DBE-5932557C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pt-box-0">
            <a:extLst xmlns:a="http://schemas.openxmlformats.org/drawingml/2006/main">
              <a:ext uri="{FF2B5EF4-FFF2-40B4-BE49-F238E27FC236}">
                <a16:creationId xmlns:a16="http://schemas.microsoft.com/office/drawing/2014/main" id="{B6344823-B4A2-41E2-A476-8B47C30F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190750" cy="24765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opt-num-0">
            <a:extLst xmlns:a="http://schemas.openxmlformats.org/drawingml/2006/main">
              <a:ext uri="{FF2B5EF4-FFF2-40B4-BE49-F238E27FC236}">
                <a16:creationId xmlns:a16="http://schemas.microsoft.com/office/drawing/2014/main" id="{9FEA26D7-87D0-47D9-AEE6-398DE260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9072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pt-title-0">
            <a:extLst xmlns:a="http://schemas.openxmlformats.org/drawingml/2006/main">
              <a:ext uri="{FF2B5EF4-FFF2-40B4-BE49-F238E27FC236}">
                <a16:creationId xmlns:a16="http://schemas.microsoft.com/office/drawing/2014/main" id="{5D5ABD45-98E5-4486-BC3E-DDEF8E27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1847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Otimizador nativo</a:t>
            </a:r>
          </a:p>
        </p:txBody>
      </p:sp>
      <p:sp>
        <p:nvSpPr>
          <p:cNvPr id="7" name="opt-copy-0">
            <a:extLst xmlns:a="http://schemas.openxmlformats.org/drawingml/2006/main">
              <a:ext uri="{FF2B5EF4-FFF2-40B4-BE49-F238E27FC236}">
                <a16:creationId xmlns:a16="http://schemas.microsoft.com/office/drawing/2014/main" id="{648C6B12-8149-46C9-8E5F-35B30526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86125"/>
            <a:ext cx="18478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4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AdamW ou SGD calcula momentum, precondicionamento e decay.</a:t>
            </a:r>
          </a:p>
        </p:txBody>
      </p:sp>
      <p:sp>
        <p:nvSpPr>
          <p:cNvPr id="8" name="opt-arrow-0">
            <a:extLst xmlns:a="http://schemas.openxmlformats.org/drawingml/2006/main">
              <a:ext uri="{FF2B5EF4-FFF2-40B4-BE49-F238E27FC236}">
                <a16:creationId xmlns:a16="http://schemas.microsoft.com/office/drawing/2014/main" id="{A6CE221E-BD0D-4708-9AF3-5F6B78C1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33675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7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opt-box-1">
            <a:extLst xmlns:a="http://schemas.openxmlformats.org/drawingml/2006/main">
              <a:ext uri="{FF2B5EF4-FFF2-40B4-BE49-F238E27FC236}">
                <a16:creationId xmlns:a16="http://schemas.microsoft.com/office/drawing/2014/main" id="{F9A86F51-0968-49E2-AFF8-0B93D31E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809750"/>
            <a:ext cx="2190750" cy="24765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opt-num-1">
            <a:extLst xmlns:a="http://schemas.openxmlformats.org/drawingml/2006/main">
              <a:ext uri="{FF2B5EF4-FFF2-40B4-BE49-F238E27FC236}">
                <a16:creationId xmlns:a16="http://schemas.microsoft.com/office/drawing/2014/main" id="{9DDACAA0-E154-4835-87CC-9C52646D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99072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opt-title-1">
            <a:extLst xmlns:a="http://schemas.openxmlformats.org/drawingml/2006/main">
              <a:ext uri="{FF2B5EF4-FFF2-40B4-BE49-F238E27FC236}">
                <a16:creationId xmlns:a16="http://schemas.microsoft.com/office/drawing/2014/main" id="{5025E276-F6D6-4151-ACB4-A38A4C20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533650"/>
            <a:ext cx="1847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Delta completo</a:t>
            </a:r>
          </a:p>
        </p:txBody>
      </p:sp>
      <p:sp>
        <p:nvSpPr>
          <p:cNvPr id="12" name="opt-copy-1">
            <a:extLst xmlns:a="http://schemas.openxmlformats.org/drawingml/2006/main">
              <a:ext uri="{FF2B5EF4-FFF2-40B4-BE49-F238E27FC236}">
                <a16:creationId xmlns:a16="http://schemas.microsoft.com/office/drawing/2014/main" id="{284D3963-4E73-49BA-B74D-9B06A9DC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286125"/>
            <a:ext cx="18478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7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O wrapper mede θ_depois − θ_antes depois do step nativo.</a:t>
            </a:r>
          </a:p>
        </p:txBody>
      </p:sp>
      <p:sp>
        <p:nvSpPr>
          <p:cNvPr id="13" name="opt-arrow-1">
            <a:extLst xmlns:a="http://schemas.openxmlformats.org/drawingml/2006/main">
              <a:ext uri="{FF2B5EF4-FFF2-40B4-BE49-F238E27FC236}">
                <a16:creationId xmlns:a16="http://schemas.microsoft.com/office/drawing/2014/main" id="{FC0D09D7-DB7A-4384-9B74-AFA6F574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733675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7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opt-box-2">
            <a:extLst xmlns:a="http://schemas.openxmlformats.org/drawingml/2006/main">
              <a:ext uri="{FF2B5EF4-FFF2-40B4-BE49-F238E27FC236}">
                <a16:creationId xmlns:a16="http://schemas.microsoft.com/office/drawing/2014/main" id="{5945325C-1FD4-4A48-B908-90AB6EBF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09750"/>
            <a:ext cx="2190750" cy="24765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opt-num-2">
            <a:extLst xmlns:a="http://schemas.openxmlformats.org/drawingml/2006/main">
              <a:ext uri="{FF2B5EF4-FFF2-40B4-BE49-F238E27FC236}">
                <a16:creationId xmlns:a16="http://schemas.microsoft.com/office/drawing/2014/main" id="{56549196-0DDA-41CC-AB96-31F1ED78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9072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opt-title-2">
            <a:extLst xmlns:a="http://schemas.openxmlformats.org/drawingml/2006/main">
              <a:ext uri="{FF2B5EF4-FFF2-40B4-BE49-F238E27FC236}">
                <a16:creationId xmlns:a16="http://schemas.microsoft.com/office/drawing/2014/main" id="{203D9FAB-AA53-486A-A46A-CB1343D7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33650"/>
            <a:ext cx="1847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Mascara SlowHeat</a:t>
            </a:r>
          </a:p>
        </p:txBody>
      </p:sp>
      <p:sp>
        <p:nvSpPr>
          <p:cNvPr id="17" name="opt-copy-2">
            <a:extLst xmlns:a="http://schemas.openxmlformats.org/drawingml/2006/main">
              <a:ext uri="{FF2B5EF4-FFF2-40B4-BE49-F238E27FC236}">
                <a16:creationId xmlns:a16="http://schemas.microsoft.com/office/drawing/2014/main" id="{6E6EDBC1-F152-4285-AF26-3DF4E5BA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86125"/>
            <a:ext cx="18478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8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O delta e interpolado elemento a elemento pela plasticidade M.</a:t>
            </a:r>
          </a:p>
        </p:txBody>
      </p:sp>
      <p:sp>
        <p:nvSpPr>
          <p:cNvPr id="18" name="opt-arrow-2">
            <a:extLst xmlns:a="http://schemas.openxmlformats.org/drawingml/2006/main">
              <a:ext uri="{FF2B5EF4-FFF2-40B4-BE49-F238E27FC236}">
                <a16:creationId xmlns:a16="http://schemas.microsoft.com/office/drawing/2014/main" id="{14CF02A7-92AD-4F9C-96AE-AEFB2395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33675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7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opt-box-3">
            <a:extLst xmlns:a="http://schemas.openxmlformats.org/drawingml/2006/main">
              <a:ext uri="{FF2B5EF4-FFF2-40B4-BE49-F238E27FC236}">
                <a16:creationId xmlns:a16="http://schemas.microsoft.com/office/drawing/2014/main" id="{DDBC247E-42DA-4B21-B065-71E36BD4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09750"/>
            <a:ext cx="2190750" cy="24765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opt-num-3">
            <a:extLst xmlns:a="http://schemas.openxmlformats.org/drawingml/2006/main">
              <a:ext uri="{FF2B5EF4-FFF2-40B4-BE49-F238E27FC236}">
                <a16:creationId xmlns:a16="http://schemas.microsoft.com/office/drawing/2014/main" id="{36F81851-9819-415E-80CB-7E18CD03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99072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opt-title-3">
            <a:extLst xmlns:a="http://schemas.openxmlformats.org/drawingml/2006/main">
              <a:ext uri="{FF2B5EF4-FFF2-40B4-BE49-F238E27FC236}">
                <a16:creationId xmlns:a16="http://schemas.microsoft.com/office/drawing/2014/main" id="{CD9EAE5E-7B43-4554-9CA5-A34405FB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533650"/>
            <a:ext cx="1847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Estado coerente</a:t>
            </a:r>
          </a:p>
        </p:txBody>
      </p:sp>
      <p:sp>
        <p:nvSpPr>
          <p:cNvPr id="22" name="opt-copy-3">
            <a:extLst xmlns:a="http://schemas.openxmlformats.org/drawingml/2006/main">
              <a:ext uri="{FF2B5EF4-FFF2-40B4-BE49-F238E27FC236}">
                <a16:creationId xmlns:a16="http://schemas.microsoft.com/office/drawing/2014/main" id="{04BD7B3D-9BB1-4004-839B-9512896B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286125"/>
            <a:ext cx="18478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6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follow_update mascara tambem deltas de momentos tensoriais.</a:t>
            </a:r>
          </a:p>
        </p:txBody>
      </p:sp>
      <p:sp>
        <p:nvSpPr>
          <p:cNvPr id="23" name="opt-warning">
            <a:extLst xmlns:a="http://schemas.openxmlformats.org/drawingml/2006/main">
              <a:ext uri="{FF2B5EF4-FFF2-40B4-BE49-F238E27FC236}">
                <a16:creationId xmlns:a16="http://schemas.microsoft.com/office/drawing/2014/main" id="{930C1A81-F234-4231-A715-7BEEB036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05375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Por que isso importa: escalar apenas o gradiente bruto pode ser parcialmente cancelado pela normalizacao do AdamW; o decay desacoplado tambem moveria parametros protegidos.</a:t>
            </a:r>
          </a:p>
        </p:txBody>
      </p:sp>
      <p:sp>
        <p:nvSpPr>
          <p:cNvPr id="24" name="footer-5">
            <a:extLst xmlns:a="http://schemas.openxmlformats.org/drawingml/2006/main">
              <a:ext uri="{FF2B5EF4-FFF2-40B4-BE49-F238E27FC236}">
                <a16:creationId xmlns:a16="http://schemas.microsoft.com/office/drawing/2014/main" id="{A1064B4A-F293-4834-A050-5EC54513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Resultados preliminares  |  n = 10 seeds</a:t>
            </a:r>
          </a:p>
        </p:txBody>
      </p:sp>
      <p:sp>
        <p:nvSpPr>
          <p:cNvPr id="25" name="page-5">
            <a:extLst xmlns:a="http://schemas.openxmlformats.org/drawingml/2006/main">
              <a:ext uri="{FF2B5EF4-FFF2-40B4-BE49-F238E27FC236}">
                <a16:creationId xmlns:a16="http://schemas.microsoft.com/office/drawing/2014/main" id="{DBBDFD3A-9ED2-44A8-BAE9-146345E0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328365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022A51EB-3054-4AF2-9846-3933D74D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FUNCTIONAL SLOWHEAT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0146C32-0D47-432E-B256-2BCA47B5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As 31 configuracoes pertencem a quatro familias</a:t>
            </a:r>
          </a:p>
        </p:txBody>
      </p:sp>
      <p:sp>
        <p:nvSpPr>
          <p:cNvPr id="3" name="rule-42-125">
            <a:extLst xmlns:a="http://schemas.openxmlformats.org/drawingml/2006/main">
              <a:ext uri="{FF2B5EF4-FFF2-40B4-BE49-F238E27FC236}">
                <a16:creationId xmlns:a16="http://schemas.microsoft.com/office/drawing/2014/main" id="{7C81B47B-08BD-466F-87D2-1BC49430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am-title-0">
            <a:extLst xmlns:a="http://schemas.openxmlformats.org/drawingml/2006/main">
              <a:ext uri="{FF2B5EF4-FFF2-40B4-BE49-F238E27FC236}">
                <a16:creationId xmlns:a16="http://schemas.microsoft.com/office/drawing/2014/main" id="{B05BCF55-1211-4F2E-B994-24B8CEFA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528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Controles</a:t>
            </a:r>
          </a:p>
        </p:txBody>
      </p:sp>
      <p:sp>
        <p:nvSpPr>
          <p:cNvPr id="5" name="fam-list-0">
            <a:extLst xmlns:a="http://schemas.openxmlformats.org/drawingml/2006/main">
              <a:ext uri="{FF2B5EF4-FFF2-40B4-BE49-F238E27FC236}">
                <a16:creationId xmlns:a16="http://schemas.microsoft.com/office/drawing/2014/main" id="{D005B89F-EF75-4562-ADC8-523A53ED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71675"/>
            <a:ext cx="5286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071"/>
                </a:solidFill>
                <a:latin typeface="Arial"/>
                <a:ea typeface="Arial"/>
                <a:cs typeface="Arial"/>
              </a:rPr>
              <a:t>vanilla · hard_freeze · slowheat_none · reducao global de LR</a:t>
            </a:r>
          </a:p>
        </p:txBody>
      </p:sp>
      <p:sp>
        <p:nvSpPr>
          <p:cNvPr id="6" name="fam-copy-0">
            <a:extLst xmlns:a="http://schemas.openxmlformats.org/drawingml/2006/main">
              <a:ext uri="{FF2B5EF4-FFF2-40B4-BE49-F238E27FC236}">
                <a16:creationId xmlns:a16="http://schemas.microsoft.com/office/drawing/2014/main" id="{3C2AE221-8236-4F27-AABD-E2211944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43175"/>
            <a:ext cx="5286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Separam ganho real de efeitos de wiring, congelamento e taxa de aprendizado.</a:t>
            </a:r>
          </a:p>
        </p:txBody>
      </p:sp>
      <p:sp>
        <p:nvSpPr>
          <p:cNvPr id="7" name="fam-title-1">
            <a:extLst xmlns:a="http://schemas.openxmlformats.org/drawingml/2006/main">
              <a:ext uri="{FF2B5EF4-FFF2-40B4-BE49-F238E27FC236}">
                <a16:creationId xmlns:a16="http://schemas.microsoft.com/office/drawing/2014/main" id="{A89133B3-5DE9-4E30-B37F-5687D281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76375"/>
            <a:ext cx="528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Regularizacao</a:t>
            </a:r>
          </a:p>
        </p:txBody>
      </p:sp>
      <p:sp>
        <p:nvSpPr>
          <p:cNvPr id="8" name="fam-list-1">
            <a:extLst xmlns:a="http://schemas.openxmlformats.org/drawingml/2006/main">
              <a:ext uri="{FF2B5EF4-FFF2-40B4-BE49-F238E27FC236}">
                <a16:creationId xmlns:a16="http://schemas.microsoft.com/office/drawing/2014/main" id="{B930ADC3-D539-43F6-836D-535EE8A8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71675"/>
            <a:ext cx="5286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071"/>
                </a:solidFill>
                <a:latin typeface="Arial"/>
                <a:ea typeface="Arial"/>
                <a:cs typeface="Arial"/>
              </a:rPr>
              <a:t>SlowHeat · EWC · SI</a:t>
            </a:r>
          </a:p>
        </p:txBody>
      </p:sp>
      <p:sp>
        <p:nvSpPr>
          <p:cNvPr id="9" name="fam-copy-1">
            <a:extLst xmlns:a="http://schemas.openxmlformats.org/drawingml/2006/main">
              <a:ext uri="{FF2B5EF4-FFF2-40B4-BE49-F238E27FC236}">
                <a16:creationId xmlns:a16="http://schemas.microsoft.com/office/drawing/2014/main" id="{817E600E-D6D3-413A-B21D-46C05D6C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43175"/>
            <a:ext cx="5286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Protegem parametros ou unidades usando importancia acumulada, sem guardar imagens antigas.</a:t>
            </a:r>
          </a:p>
        </p:txBody>
      </p:sp>
      <p:sp>
        <p:nvSpPr>
          <p:cNvPr id="10" name="fam-title-2">
            <a:extLst xmlns:a="http://schemas.openxmlformats.org/drawingml/2006/main">
              <a:ext uri="{FF2B5EF4-FFF2-40B4-BE49-F238E27FC236}">
                <a16:creationId xmlns:a16="http://schemas.microsoft.com/office/drawing/2014/main" id="{E0D9EC21-6C89-4F10-90C6-3FB82927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28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Memoria e logits</a:t>
            </a:r>
          </a:p>
        </p:txBody>
      </p:sp>
      <p:sp>
        <p:nvSpPr>
          <p:cNvPr id="11" name="fam-list-2">
            <a:extLst xmlns:a="http://schemas.openxmlformats.org/drawingml/2006/main">
              <a:ext uri="{FF2B5EF4-FFF2-40B4-BE49-F238E27FC236}">
                <a16:creationId xmlns:a16="http://schemas.microsoft.com/office/drawing/2014/main" id="{3B9DC7EC-3AD8-413A-BC22-70D87D0B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5286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071"/>
                </a:solidFill>
                <a:latin typeface="Arial"/>
                <a:ea typeface="Arial"/>
                <a:cs typeface="Arial"/>
              </a:rPr>
              <a:t>Replay · DER++ · ER-ACE · A-GEM</a:t>
            </a:r>
          </a:p>
        </p:txBody>
      </p:sp>
      <p:sp>
        <p:nvSpPr>
          <p:cNvPr id="12" name="fam-copy-2">
            <a:extLst xmlns:a="http://schemas.openxmlformats.org/drawingml/2006/main">
              <a:ext uri="{FF2B5EF4-FFF2-40B4-BE49-F238E27FC236}">
                <a16:creationId xmlns:a16="http://schemas.microsoft.com/office/drawing/2014/main" id="{7175F505-CD13-4449-AA80-D4BE9E74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5286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Usam memoria episodica para reintroduzir informacao antiga e controlar interferencia.</a:t>
            </a:r>
          </a:p>
        </p:txBody>
      </p:sp>
      <p:sp>
        <p:nvSpPr>
          <p:cNvPr id="13" name="fam-title-3">
            <a:extLst xmlns:a="http://schemas.openxmlformats.org/drawingml/2006/main">
              <a:ext uri="{FF2B5EF4-FFF2-40B4-BE49-F238E27FC236}">
                <a16:creationId xmlns:a16="http://schemas.microsoft.com/office/drawing/2014/main" id="{A33CA86D-085C-4EC0-B998-A2E249C5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14750"/>
            <a:ext cx="528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Distillation e hibridos</a:t>
            </a:r>
          </a:p>
        </p:txBody>
      </p:sp>
      <p:sp>
        <p:nvSpPr>
          <p:cNvPr id="14" name="fam-list-3">
            <a:extLst xmlns:a="http://schemas.openxmlformats.org/drawingml/2006/main">
              <a:ext uri="{FF2B5EF4-FFF2-40B4-BE49-F238E27FC236}">
                <a16:creationId xmlns:a16="http://schemas.microsoft.com/office/drawing/2014/main" id="{6F56921B-A42C-4819-A789-FA0EAF7A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10050"/>
            <a:ext cx="5286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071"/>
                </a:solidFill>
                <a:latin typeface="Arial"/>
                <a:ea typeface="Arial"/>
                <a:cs typeface="Arial"/>
              </a:rPr>
              <a:t>LwF · distillation · SlowHeat + Replay/DER++</a:t>
            </a:r>
          </a:p>
        </p:txBody>
      </p:sp>
      <p:sp>
        <p:nvSpPr>
          <p:cNvPr id="15" name="fam-copy-3">
            <a:extLst xmlns:a="http://schemas.openxmlformats.org/drawingml/2006/main">
              <a:ext uri="{FF2B5EF4-FFF2-40B4-BE49-F238E27FC236}">
                <a16:creationId xmlns:a16="http://schemas.microsoft.com/office/drawing/2014/main" id="{90074321-B52C-4606-B0B0-2E610C8D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81550"/>
            <a:ext cx="5286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Preservam respostas antigas e combinam estabilidade funcional com memoria.</a:t>
            </a:r>
          </a:p>
        </p:txBody>
      </p:sp>
      <p:sp>
        <p:nvSpPr>
          <p:cNvPr id="16" name="footer-6">
            <a:extLst xmlns:a="http://schemas.openxmlformats.org/drawingml/2006/main">
              <a:ext uri="{FF2B5EF4-FFF2-40B4-BE49-F238E27FC236}">
                <a16:creationId xmlns:a16="http://schemas.microsoft.com/office/drawing/2014/main" id="{7A419145-01EA-4C42-8E6B-60FAC9D1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Resultados preliminares  |  n = 10 seeds</a:t>
            </a:r>
          </a:p>
        </p:txBody>
      </p:sp>
      <p:sp>
        <p:nvSpPr>
          <p:cNvPr id="17" name="page-6">
            <a:extLst xmlns:a="http://schemas.openxmlformats.org/drawingml/2006/main">
              <a:ext uri="{FF2B5EF4-FFF2-40B4-BE49-F238E27FC236}">
                <a16:creationId xmlns:a16="http://schemas.microsoft.com/office/drawing/2014/main" id="{EE7E8791-23D9-49EA-B9DF-B824A9BB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993900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B77159AE-13AC-4F5C-BCA1-4851E6DE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FUNCTIONAL SLOWHEAT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FD28C0F-7B9A-4B1E-8360-6E84D65B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2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Replay e DER++ fornecem o sinal antigo que o fluxo atual nao contem</a:t>
            </a:r>
          </a:p>
        </p:txBody>
      </p:sp>
      <p:sp>
        <p:nvSpPr>
          <p:cNvPr id="3" name="rule-42-125">
            <a:extLst xmlns:a="http://schemas.openxmlformats.org/drawingml/2006/main">
              <a:ext uri="{FF2B5EF4-FFF2-40B4-BE49-F238E27FC236}">
                <a16:creationId xmlns:a16="http://schemas.microsoft.com/office/drawing/2014/main" id="{14B7B1BF-811E-4817-B601-7CB77D50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play-head">
            <a:extLst xmlns:a="http://schemas.openxmlformats.org/drawingml/2006/main">
              <a:ext uri="{FF2B5EF4-FFF2-40B4-BE49-F238E27FC236}">
                <a16:creationId xmlns:a16="http://schemas.microsoft.com/office/drawing/2014/main" id="{C35FDBFF-66F1-4D7E-B70E-D33CD880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Replay</a:t>
            </a:r>
          </a:p>
        </p:txBody>
      </p:sp>
      <p:sp>
        <p:nvSpPr>
          <p:cNvPr id="5" name="bullets-42-225">
            <a:extLst xmlns:a="http://schemas.openxmlformats.org/drawingml/2006/main">
              <a:ext uri="{FF2B5EF4-FFF2-40B4-BE49-F238E27FC236}">
                <a16:creationId xmlns:a16="http://schemas.microsoft.com/office/drawing/2014/main" id="{6C29A734-6F10-44C4-A918-CA8C61FD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48101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00000"/>
              </a:lnSpc>
              <a:spcAft>
                <a:spcPts val="12"/>
              </a:spcAft>
              <a:buNone/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Armazena 20 exemplos por classe em memoria episodica.</a:t>
            </a:r>
          </a:p>
          <a:p xmlns:a="http://schemas.openxmlformats.org/drawingml/2006/main">
            <a:pPr marL="24" indent="-14" algn="l">
              <a:lnSpc>
                <a:spcPct val="100000"/>
              </a:lnSpc>
              <a:spcAft>
                <a:spcPts val="12"/>
              </a:spcAft>
              <a:buNone/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Mistura exemplos atuais e antigos no mesmo step.</a:t>
            </a:r>
          </a:p>
          <a:p xmlns:a="http://schemas.openxmlformats.org/drawingml/2006/main">
            <a:pPr marL="24" indent="-14" algn="l">
              <a:lnSpc>
                <a:spcPct val="100000"/>
              </a:lnSpc>
              <a:spcAft>
                <a:spcPts val="12"/>
              </a:spcAft>
              <a:buNone/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Evita depender apenas de uma penalidade sobre parametros.</a:t>
            </a:r>
          </a:p>
        </p:txBody>
      </p:sp>
      <p:sp>
        <p:nvSpPr>
          <p:cNvPr id="6" name="replay-paper">
            <a:extLst xmlns:a="http://schemas.openxmlformats.org/drawingml/2006/main">
              <a:ext uri="{FF2B5EF4-FFF2-40B4-BE49-F238E27FC236}">
                <a16:creationId xmlns:a16="http://schemas.microsoft.com/office/drawing/2014/main" id="{46050674-082B-40DD-9C41-9E12A859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38675"/>
            <a:ext cx="481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e33126a9553b4f79"/>
              </a:rPr>
              <a:t>Chaudhry et al. (2019) · Tiny Episodic Memories</a:t>
            </a:r>
          </a:p>
        </p:txBody>
      </p:sp>
      <p:sp>
        <p:nvSpPr>
          <p:cNvPr id="7" name="rule-620-154">
            <a:extLst xmlns:a="http://schemas.openxmlformats.org/drawingml/2006/main">
              <a:ext uri="{FF2B5EF4-FFF2-40B4-BE49-F238E27FC236}">
                <a16:creationId xmlns:a16="http://schemas.microsoft.com/office/drawing/2014/main" id="{CB533E1C-DCB5-497F-91D3-32E7A653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66850"/>
            <a:ext cx="952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r-head">
            <a:extLst xmlns:a="http://schemas.openxmlformats.org/drawingml/2006/main">
              <a:ext uri="{FF2B5EF4-FFF2-40B4-BE49-F238E27FC236}">
                <a16:creationId xmlns:a16="http://schemas.microsoft.com/office/drawing/2014/main" id="{7AB97BDD-2163-4FBE-883B-C1706B60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DER++</a:t>
            </a:r>
          </a:p>
        </p:txBody>
      </p:sp>
      <p:sp>
        <p:nvSpPr>
          <p:cNvPr id="9" name="der-eq">
            <a:extLst xmlns:a="http://schemas.openxmlformats.org/drawingml/2006/main">
              <a:ext uri="{FF2B5EF4-FFF2-40B4-BE49-F238E27FC236}">
                <a16:creationId xmlns:a16="http://schemas.microsoft.com/office/drawing/2014/main" id="{24A85D56-B2C3-47D4-934C-914EE1CB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1932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8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 = CE_atual + α·MSE(logits) + β·CE_replay</a:t>
            </a:r>
          </a:p>
        </p:txBody>
      </p:sp>
      <p:sp>
        <p:nvSpPr>
          <p:cNvPr id="10" name="bullets-668-315">
            <a:extLst xmlns:a="http://schemas.openxmlformats.org/drawingml/2006/main">
              <a:ext uri="{FF2B5EF4-FFF2-40B4-BE49-F238E27FC236}">
                <a16:creationId xmlns:a16="http://schemas.microsoft.com/office/drawing/2014/main" id="{FBC514B8-E150-4E9C-A850-0516855B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0375"/>
            <a:ext cx="5238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00000"/>
              </a:lnSpc>
              <a:spcAft>
                <a:spcPts val="12"/>
              </a:spcAft>
              <a:buNone/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Guarda imagens, rotulos e logits produzidos no passado.</a:t>
            </a:r>
          </a:p>
          <a:p xmlns:a="http://schemas.openxmlformats.org/drawingml/2006/main">
            <a:pPr marL="24" indent="-14" algn="l">
              <a:lnSpc>
                <a:spcPct val="100000"/>
              </a:lnSpc>
              <a:spcAft>
                <a:spcPts val="12"/>
              </a:spcAft>
              <a:buNone/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O MSE preserva as respostas escuras; a CE ancora os rotulos.</a:t>
            </a:r>
          </a:p>
          <a:p xmlns:a="http://schemas.openxmlformats.org/drawingml/2006/main">
            <a:pPr marL="24" indent="-14" algn="l">
              <a:lnSpc>
                <a:spcPct val="100000"/>
              </a:lnSpc>
              <a:spcAft>
                <a:spcPts val="12"/>
              </a:spcAft>
              <a:buNone/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Neste projeto, α = 0,5 e β = 0,5.</a:t>
            </a:r>
          </a:p>
        </p:txBody>
      </p:sp>
      <p:sp>
        <p:nvSpPr>
          <p:cNvPr id="11" name="der-paper">
            <a:extLst xmlns:a="http://schemas.openxmlformats.org/drawingml/2006/main">
              <a:ext uri="{FF2B5EF4-FFF2-40B4-BE49-F238E27FC236}">
                <a16:creationId xmlns:a16="http://schemas.microsoft.com/office/drawing/2014/main" id="{895C2BF5-63C2-4637-9A2E-F0B3C74B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387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4f509b036ed34f91"/>
              </a:rPr>
              <a:t>Buzzega et al. (NeurIPS 2020) · DER++</a:t>
            </a:r>
          </a:p>
        </p:txBody>
      </p:sp>
      <p:sp>
        <p:nvSpPr>
          <p:cNvPr id="12" name="footer-7">
            <a:extLst xmlns:a="http://schemas.openxmlformats.org/drawingml/2006/main">
              <a:ext uri="{FF2B5EF4-FFF2-40B4-BE49-F238E27FC236}">
                <a16:creationId xmlns:a16="http://schemas.microsoft.com/office/drawing/2014/main" id="{3003C2E3-2940-4A36-82C1-AE110639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Resultados preliminares  |  n = 10 seeds</a:t>
            </a:r>
          </a:p>
        </p:txBody>
      </p:sp>
      <p:sp>
        <p:nvSpPr>
          <p:cNvPr id="13" name="page-7">
            <a:extLst xmlns:a="http://schemas.openxmlformats.org/drawingml/2006/main">
              <a:ext uri="{FF2B5EF4-FFF2-40B4-BE49-F238E27FC236}">
                <a16:creationId xmlns:a16="http://schemas.microsoft.com/office/drawing/2014/main" id="{8F5F8496-2ACF-434E-A604-69E167F8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781796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38BF4056-EDD0-41D9-BC82-8F0B59FF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FUNCTIONAL SLOWHEAT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8A1AD4B-643D-45EF-BCAC-972C037B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ER-ACE restringe classes; A-GEM projeta gradientes</a:t>
            </a:r>
          </a:p>
        </p:txBody>
      </p:sp>
      <p:sp>
        <p:nvSpPr>
          <p:cNvPr id="3" name="rule-42-125">
            <a:extLst xmlns:a="http://schemas.openxmlformats.org/drawingml/2006/main">
              <a:ext uri="{FF2B5EF4-FFF2-40B4-BE49-F238E27FC236}">
                <a16:creationId xmlns:a16="http://schemas.microsoft.com/office/drawing/2014/main" id="{7E0ECE47-8844-491F-BE4A-E19F80FA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race-title">
            <a:extLst xmlns:a="http://schemas.openxmlformats.org/drawingml/2006/main">
              <a:ext uri="{FF2B5EF4-FFF2-40B4-BE49-F238E27FC236}">
                <a16:creationId xmlns:a16="http://schemas.microsoft.com/office/drawing/2014/main" id="{5BEAD141-B07F-4868-88A2-C75219AB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ER-ACE · restringir a competicao</a:t>
            </a:r>
          </a:p>
        </p:txBody>
      </p:sp>
      <p:sp>
        <p:nvSpPr>
          <p:cNvPr id="5" name="erace-copy">
            <a:extLst xmlns:a="http://schemas.openxmlformats.org/drawingml/2006/main">
              <a:ext uri="{FF2B5EF4-FFF2-40B4-BE49-F238E27FC236}">
                <a16:creationId xmlns:a16="http://schemas.microsoft.com/office/drawing/2014/main" id="{C1D10DAB-A71A-4E1F-8440-2FFC8FFB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5095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A loss do lote atual considera apenas classes presentes; o replay continua cobrindo todas as classes vistas. A meta e reduzir mudancas abruptas e interferencia assimetrica.</a:t>
            </a:r>
          </a:p>
        </p:txBody>
      </p:sp>
      <p:sp>
        <p:nvSpPr>
          <p:cNvPr id="6" name="erace-paper">
            <a:extLst xmlns:a="http://schemas.openxmlformats.org/drawingml/2006/main">
              <a:ext uri="{FF2B5EF4-FFF2-40B4-BE49-F238E27FC236}">
                <a16:creationId xmlns:a16="http://schemas.microsoft.com/office/drawing/2014/main" id="{EBAD5F66-B650-4782-9DDE-7185AFCD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a6e3f927d9d44ccd"/>
              </a:rPr>
              <a:t>Caccia et al. (ICLR 2022) · ER-ACE</a:t>
            </a:r>
          </a:p>
        </p:txBody>
      </p:sp>
      <p:sp>
        <p:nvSpPr>
          <p:cNvPr id="7" name="agem-title">
            <a:extLst xmlns:a="http://schemas.openxmlformats.org/drawingml/2006/main">
              <a:ext uri="{FF2B5EF4-FFF2-40B4-BE49-F238E27FC236}">
                <a16:creationId xmlns:a16="http://schemas.microsoft.com/office/drawing/2014/main" id="{17E23177-7E45-4B37-A58B-6C70C2F0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430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A-GEM · projetar o gradiente</a:t>
            </a:r>
          </a:p>
        </p:txBody>
      </p:sp>
      <p:sp>
        <p:nvSpPr>
          <p:cNvPr id="8" name="agem-copy">
            <a:extLst xmlns:a="http://schemas.openxmlformats.org/drawingml/2006/main">
              <a:ext uri="{FF2B5EF4-FFF2-40B4-BE49-F238E27FC236}">
                <a16:creationId xmlns:a16="http://schemas.microsoft.com/office/drawing/2014/main" id="{D0468B6C-057B-455D-9F14-C169CE15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43125"/>
            <a:ext cx="5238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Compara o gradiente atual ao gradiente de referencia da memoria. Se o produto interno for negativo, remove a componente conflitante antes do update.</a:t>
            </a:r>
          </a:p>
        </p:txBody>
      </p:sp>
      <p:sp>
        <p:nvSpPr>
          <p:cNvPr id="9" name="agem-paper">
            <a:extLst xmlns:a="http://schemas.openxmlformats.org/drawingml/2006/main">
              <a:ext uri="{FF2B5EF4-FFF2-40B4-BE49-F238E27FC236}">
                <a16:creationId xmlns:a16="http://schemas.microsoft.com/office/drawing/2014/main" id="{9E8C28A3-1358-4E4C-B15E-0A8278AD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910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e4eac8042d364488"/>
              </a:rPr>
              <a:t>Chaudhry et al. (ICLR 2019) · A-GEM</a:t>
            </a:r>
          </a:p>
        </p:txBody>
      </p:sp>
      <p:sp>
        <p:nvSpPr>
          <p:cNvPr id="10" name="interpretation-band">
            <a:extLst xmlns:a="http://schemas.openxmlformats.org/drawingml/2006/main">
              <a:ext uri="{FF2B5EF4-FFF2-40B4-BE49-F238E27FC236}">
                <a16:creationId xmlns:a16="http://schemas.microsoft.com/office/drawing/2014/main" id="{8CE755BF-7A46-49EF-9005-D480E3FA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11728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terpretation-text">
            <a:extLst xmlns:a="http://schemas.openxmlformats.org/drawingml/2006/main">
              <a:ext uri="{FF2B5EF4-FFF2-40B4-BE49-F238E27FC236}">
                <a16:creationId xmlns:a16="http://schemas.microsoft.com/office/drawing/2014/main" id="{9D06E1B3-F89F-4160-A13D-BF250A2C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67325"/>
            <a:ext cx="1062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 mesma memoria pode servir para repetir exemplos, preservar logits ou construir uma restricao geometrica. O mecanismo - nao apenas o buffer - determina o comportamento.</a:t>
            </a:r>
          </a:p>
        </p:txBody>
      </p:sp>
      <p:sp>
        <p:nvSpPr>
          <p:cNvPr id="12" name="footer-8">
            <a:extLst xmlns:a="http://schemas.openxmlformats.org/drawingml/2006/main">
              <a:ext uri="{FF2B5EF4-FFF2-40B4-BE49-F238E27FC236}">
                <a16:creationId xmlns:a16="http://schemas.microsoft.com/office/drawing/2014/main" id="{05E6B431-5D04-4702-A0F8-1BFCFB13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Resultados preliminares  |  n = 10 seeds</a:t>
            </a:r>
          </a:p>
        </p:txBody>
      </p:sp>
      <p:sp>
        <p:nvSpPr>
          <p:cNvPr id="13" name="page-8">
            <a:extLst xmlns:a="http://schemas.openxmlformats.org/drawingml/2006/main">
              <a:ext uri="{FF2B5EF4-FFF2-40B4-BE49-F238E27FC236}">
                <a16:creationId xmlns:a16="http://schemas.microsoft.com/office/drawing/2014/main" id="{BED86D7A-19DE-43F8-9ABF-6357D732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60576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129E4EE6-9E28-45ED-B16B-D27A2536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FUNCTIONAL SLOWHEAT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A4FEA2E-F55A-4392-8CDC-851244F2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4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EWC, SI e LwF preservam o passado sem guardar imagens</a:t>
            </a:r>
          </a:p>
        </p:txBody>
      </p:sp>
      <p:sp>
        <p:nvSpPr>
          <p:cNvPr id="3" name="rule-42-125">
            <a:extLst xmlns:a="http://schemas.openxmlformats.org/drawingml/2006/main">
              <a:ext uri="{FF2B5EF4-FFF2-40B4-BE49-F238E27FC236}">
                <a16:creationId xmlns:a16="http://schemas.microsoft.com/office/drawing/2014/main" id="{11BD06C0-5B00-4229-8CA9-75C264E1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g-title-0">
            <a:extLst xmlns:a="http://schemas.openxmlformats.org/drawingml/2006/main">
              <a:ext uri="{FF2B5EF4-FFF2-40B4-BE49-F238E27FC236}">
                <a16:creationId xmlns:a16="http://schemas.microsoft.com/office/drawing/2014/main" id="{2CEA7380-0E1A-4B6B-9700-578224C5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2877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EWC</a:t>
            </a:r>
          </a:p>
        </p:txBody>
      </p:sp>
      <p:sp>
        <p:nvSpPr>
          <p:cNvPr id="5" name="reg-copy-0">
            <a:extLst xmlns:a="http://schemas.openxmlformats.org/drawingml/2006/main">
              <a:ext uri="{FF2B5EF4-FFF2-40B4-BE49-F238E27FC236}">
                <a16:creationId xmlns:a16="http://schemas.microsoft.com/office/drawing/2014/main" id="{16B3CA59-6605-4BF2-AE9E-F2C10531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76475"/>
            <a:ext cx="3333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6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76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Fisher diagonal + penalidade quadratica em torno dos parametros consolidados.</a:t>
            </a:r>
          </a:p>
        </p:txBody>
      </p:sp>
      <p:sp>
        <p:nvSpPr>
          <p:cNvPr id="6" name="reg-link-0">
            <a:extLst xmlns:a="http://schemas.openxmlformats.org/drawingml/2006/main">
              <a:ext uri="{FF2B5EF4-FFF2-40B4-BE49-F238E27FC236}">
                <a16:creationId xmlns:a16="http://schemas.microsoft.com/office/drawing/2014/main" id="{FABC8DE7-09E0-477A-92A2-F9F9F863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957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5665e1b5c4594eb6"/>
              </a:rPr>
              <a:t>Abrir artigo</a:t>
            </a:r>
          </a:p>
        </p:txBody>
      </p:sp>
      <p:sp>
        <p:nvSpPr>
          <p:cNvPr id="7" name="rule-412-160">
            <a:extLst xmlns:a="http://schemas.openxmlformats.org/drawingml/2006/main">
              <a:ext uri="{FF2B5EF4-FFF2-40B4-BE49-F238E27FC236}">
                <a16:creationId xmlns:a16="http://schemas.microsoft.com/office/drawing/2014/main" id="{0DF45164-5057-44AF-9015-BC289CF0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524000"/>
            <a:ext cx="95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g-title-1">
            <a:extLst xmlns:a="http://schemas.openxmlformats.org/drawingml/2006/main">
              <a:ext uri="{FF2B5EF4-FFF2-40B4-BE49-F238E27FC236}">
                <a16:creationId xmlns:a16="http://schemas.microsoft.com/office/drawing/2014/main" id="{141492DB-C98D-4365-AE13-AC960C3A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62877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SI</a:t>
            </a:r>
          </a:p>
        </p:txBody>
      </p:sp>
      <p:sp>
        <p:nvSpPr>
          <p:cNvPr id="9" name="reg-copy-1">
            <a:extLst xmlns:a="http://schemas.openxmlformats.org/drawingml/2006/main">
              <a:ext uri="{FF2B5EF4-FFF2-40B4-BE49-F238E27FC236}">
                <a16:creationId xmlns:a16="http://schemas.microsoft.com/office/drawing/2014/main" id="{767E6A2A-240C-4C09-BABB-EA09A2E5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276475"/>
            <a:ext cx="3333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6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76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Importancia sinaptica acumulada pela contribuicao −gradiente × deslocamento.</a:t>
            </a:r>
          </a:p>
        </p:txBody>
      </p:sp>
      <p:sp>
        <p:nvSpPr>
          <p:cNvPr id="10" name="reg-link-1">
            <a:extLst xmlns:a="http://schemas.openxmlformats.org/drawingml/2006/main">
              <a:ext uri="{FF2B5EF4-FFF2-40B4-BE49-F238E27FC236}">
                <a16:creationId xmlns:a16="http://schemas.microsoft.com/office/drawing/2014/main" id="{780EEE3B-46D7-47C1-936B-D930D7CA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2957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bf5f5b12cb4243fc"/>
              </a:rPr>
              <a:t>Abrir artigo</a:t>
            </a:r>
          </a:p>
        </p:txBody>
      </p:sp>
      <p:sp>
        <p:nvSpPr>
          <p:cNvPr id="11" name="rule-811-160">
            <a:extLst xmlns:a="http://schemas.openxmlformats.org/drawingml/2006/main">
              <a:ext uri="{FF2B5EF4-FFF2-40B4-BE49-F238E27FC236}">
                <a16:creationId xmlns:a16="http://schemas.microsoft.com/office/drawing/2014/main" id="{E7A5A079-827C-4A14-8078-CF076196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524000"/>
            <a:ext cx="95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g-title-2">
            <a:extLst xmlns:a="http://schemas.openxmlformats.org/drawingml/2006/main">
              <a:ext uri="{FF2B5EF4-FFF2-40B4-BE49-F238E27FC236}">
                <a16:creationId xmlns:a16="http://schemas.microsoft.com/office/drawing/2014/main" id="{FA9883AB-909D-47C2-8641-01A02B44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2877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LwF / distillation</a:t>
            </a:r>
          </a:p>
        </p:txBody>
      </p:sp>
      <p:sp>
        <p:nvSpPr>
          <p:cNvPr id="13" name="reg-copy-2">
            <a:extLst xmlns:a="http://schemas.openxmlformats.org/drawingml/2006/main">
              <a:ext uri="{FF2B5EF4-FFF2-40B4-BE49-F238E27FC236}">
                <a16:creationId xmlns:a16="http://schemas.microsoft.com/office/drawing/2014/main" id="{AF30B60A-66BD-48CD-941F-200ECCCA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76475"/>
            <a:ext cx="3333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6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76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O modelo anterior atua como professor sobre classes antigas; temperatura 2 no runner.</a:t>
            </a:r>
          </a:p>
        </p:txBody>
      </p:sp>
      <p:sp>
        <p:nvSpPr>
          <p:cNvPr id="14" name="reg-link-2">
            <a:extLst xmlns:a="http://schemas.openxmlformats.org/drawingml/2006/main">
              <a:ext uri="{FF2B5EF4-FFF2-40B4-BE49-F238E27FC236}">
                <a16:creationId xmlns:a16="http://schemas.microsoft.com/office/drawing/2014/main" id="{72B07F19-0A77-40EB-AC49-6CFF67DB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957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7488b9c403814d80"/>
              </a:rPr>
              <a:t>Abrir artigo</a:t>
            </a:r>
          </a:p>
        </p:txBody>
      </p:sp>
      <p:sp>
        <p:nvSpPr>
          <p:cNvPr id="15" name="reg-takeaway">
            <a:extLst xmlns:a="http://schemas.openxmlformats.org/drawingml/2006/main">
              <a:ext uri="{FF2B5EF4-FFF2-40B4-BE49-F238E27FC236}">
                <a16:creationId xmlns:a16="http://schemas.microsoft.com/office/drawing/2014/main" id="{AEAB9785-02D4-47CC-8FFC-62FFAF3F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67325"/>
            <a:ext cx="11144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No Split-MNIST class-incremental, esses metodos mantiveram informacao task-aware em graus distintos, mas nao resolveram a calibracao global sem replay.</a:t>
            </a:r>
          </a:p>
        </p:txBody>
      </p:sp>
      <p:sp>
        <p:nvSpPr>
          <p:cNvPr id="16" name="footer-9">
            <a:extLst xmlns:a="http://schemas.openxmlformats.org/drawingml/2006/main">
              <a:ext uri="{FF2B5EF4-FFF2-40B4-BE49-F238E27FC236}">
                <a16:creationId xmlns:a16="http://schemas.microsoft.com/office/drawing/2014/main" id="{261EDA84-6B0B-4FB0-ABBD-45D39457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Resultados preliminares  |  n = 10 seeds</a:t>
            </a:r>
          </a:p>
        </p:txBody>
      </p:sp>
      <p:sp>
        <p:nvSpPr>
          <p:cNvPr id="17" name="page-9">
            <a:extLst xmlns:a="http://schemas.openxmlformats.org/drawingml/2006/main">
              <a:ext uri="{FF2B5EF4-FFF2-40B4-BE49-F238E27FC236}">
                <a16:creationId xmlns:a16="http://schemas.microsoft.com/office/drawing/2014/main" id="{9E59D058-5816-4728-9F2C-D1B3CC5D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70785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">
            <a:extLst xmlns:a="http://schemas.openxmlformats.org/drawingml/2006/main">
              <a:ext uri="{FF2B5EF4-FFF2-40B4-BE49-F238E27FC236}">
                <a16:creationId xmlns:a16="http://schemas.microsoft.com/office/drawing/2014/main" id="{CC7FB788-F565-49E8-B75C-FEEA745D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FUNCTIONAL SLOWHEAT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1E55663-32B2-4699-A4E0-453BC44D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9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As ablacoes SlowHeat testam onde a protecao realmente ajuda</a:t>
            </a:r>
          </a:p>
        </p:txBody>
      </p:sp>
      <p:sp>
        <p:nvSpPr>
          <p:cNvPr id="3" name="rule-42-125">
            <a:extLst xmlns:a="http://schemas.openxmlformats.org/drawingml/2006/main">
              <a:ext uri="{FF2B5EF4-FFF2-40B4-BE49-F238E27FC236}">
                <a16:creationId xmlns:a16="http://schemas.microsoft.com/office/drawing/2014/main" id="{7DFCDB8C-7279-4892-A378-37CCA02A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b-name-0">
            <a:extLst xmlns:a="http://schemas.openxmlformats.org/drawingml/2006/main">
              <a:ext uri="{FF2B5EF4-FFF2-40B4-BE49-F238E27FC236}">
                <a16:creationId xmlns:a16="http://schemas.microsoft.com/office/drawing/2014/main" id="{14D2C9B2-4A7F-450C-983B-CC0625C2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β = 10 / 30 / 100</a:t>
            </a:r>
          </a:p>
        </p:txBody>
      </p:sp>
      <p:sp>
        <p:nvSpPr>
          <p:cNvPr id="5" name="ab-desc-0">
            <a:extLst xmlns:a="http://schemas.openxmlformats.org/drawingml/2006/main">
              <a:ext uri="{FF2B5EF4-FFF2-40B4-BE49-F238E27FC236}">
                <a16:creationId xmlns:a16="http://schemas.microsoft.com/office/drawing/2014/main" id="{6488ADFE-4A25-421F-B7F4-2970B52D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466850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88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forca crescente de protecao</a:t>
            </a:r>
          </a:p>
        </p:txBody>
      </p:sp>
      <p:sp>
        <p:nvSpPr>
          <p:cNvPr id="6" name="rule-42-224">
            <a:extLst xmlns:a="http://schemas.openxmlformats.org/drawingml/2006/main">
              <a:ext uri="{FF2B5EF4-FFF2-40B4-BE49-F238E27FC236}">
                <a16:creationId xmlns:a16="http://schemas.microsoft.com/office/drawing/2014/main" id="{AC4ED307-AFA4-41B8-8926-0B0FFB7B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5286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b-name-1">
            <a:extLst xmlns:a="http://schemas.openxmlformats.org/drawingml/2006/main">
              <a:ext uri="{FF2B5EF4-FFF2-40B4-BE49-F238E27FC236}">
                <a16:creationId xmlns:a16="http://schemas.microsoft.com/office/drawing/2014/main" id="{771BA39B-3C97-42E6-9AF5-810FEFC8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668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adaptive</a:t>
            </a:r>
          </a:p>
        </p:txBody>
      </p:sp>
      <p:sp>
        <p:nvSpPr>
          <p:cNvPr id="8" name="ab-desc-1">
            <a:extLst xmlns:a="http://schemas.openxmlformats.org/drawingml/2006/main">
              <a:ext uri="{FF2B5EF4-FFF2-40B4-BE49-F238E27FC236}">
                <a16:creationId xmlns:a16="http://schemas.microsoft.com/office/drawing/2014/main" id="{E7F501C3-87D9-464F-A2E7-49246474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466850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88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budget guiado por validacao</a:t>
            </a:r>
          </a:p>
        </p:txBody>
      </p:sp>
      <p:sp>
        <p:nvSpPr>
          <p:cNvPr id="9" name="rule-648-224">
            <a:extLst xmlns:a="http://schemas.openxmlformats.org/drawingml/2006/main">
              <a:ext uri="{FF2B5EF4-FFF2-40B4-BE49-F238E27FC236}">
                <a16:creationId xmlns:a16="http://schemas.microsoft.com/office/drawing/2014/main" id="{696FCCC3-2074-4854-9106-479F2C94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286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b-name-2">
            <a:extLst xmlns:a="http://schemas.openxmlformats.org/drawingml/2006/main">
              <a:ext uri="{FF2B5EF4-FFF2-40B4-BE49-F238E27FC236}">
                <a16:creationId xmlns:a16="http://schemas.microsoft.com/office/drawing/2014/main" id="{F8CB69A5-7777-446B-8528-EEC6DDEF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241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native_state</a:t>
            </a:r>
          </a:p>
        </p:txBody>
      </p:sp>
      <p:sp>
        <p:nvSpPr>
          <p:cNvPr id="11" name="ab-desc-2">
            <a:extLst xmlns:a="http://schemas.openxmlformats.org/drawingml/2006/main">
              <a:ext uri="{FF2B5EF4-FFF2-40B4-BE49-F238E27FC236}">
                <a16:creationId xmlns:a16="http://schemas.microsoft.com/office/drawing/2014/main" id="{9453136F-6B12-48E1-8EB0-3EADDBAE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24125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8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88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estado do AdamW segue o step nativo</a:t>
            </a:r>
          </a:p>
        </p:txBody>
      </p:sp>
      <p:sp>
        <p:nvSpPr>
          <p:cNvPr id="12" name="rule-42-335">
            <a:extLst xmlns:a="http://schemas.openxmlformats.org/drawingml/2006/main">
              <a:ext uri="{FF2B5EF4-FFF2-40B4-BE49-F238E27FC236}">
                <a16:creationId xmlns:a16="http://schemas.microsoft.com/office/drawing/2014/main" id="{6991D2DB-1F32-4F3C-B3BB-338A5124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90875"/>
            <a:ext cx="5286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b-name-3">
            <a:extLst xmlns:a="http://schemas.openxmlformats.org/drawingml/2006/main">
              <a:ext uri="{FF2B5EF4-FFF2-40B4-BE49-F238E27FC236}">
                <a16:creationId xmlns:a16="http://schemas.microsoft.com/office/drawing/2014/main" id="{A8DF3274-44B6-45B4-A4F6-5C9FB2A6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241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unidirectional</a:t>
            </a:r>
          </a:p>
        </p:txBody>
      </p:sp>
      <p:sp>
        <p:nvSpPr>
          <p:cNvPr id="14" name="ab-desc-3">
            <a:extLst xmlns:a="http://schemas.openxmlformats.org/drawingml/2006/main">
              <a:ext uri="{FF2B5EF4-FFF2-40B4-BE49-F238E27FC236}">
                <a16:creationId xmlns:a16="http://schemas.microsoft.com/office/drawing/2014/main" id="{D68878C5-6C2D-48E0-B5E6-6893E05A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24125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8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88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protege apenas a linha de entrada</a:t>
            </a:r>
          </a:p>
        </p:txBody>
      </p:sp>
      <p:sp>
        <p:nvSpPr>
          <p:cNvPr id="15" name="rule-648-335">
            <a:extLst xmlns:a="http://schemas.openxmlformats.org/drawingml/2006/main">
              <a:ext uri="{FF2B5EF4-FFF2-40B4-BE49-F238E27FC236}">
                <a16:creationId xmlns:a16="http://schemas.microsoft.com/office/drawing/2014/main" id="{DD1D6714-A902-4DCD-BC41-0893B338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90875"/>
            <a:ext cx="5286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b-name-4">
            <a:extLst xmlns:a="http://schemas.openxmlformats.org/drawingml/2006/main">
              <a:ext uri="{FF2B5EF4-FFF2-40B4-BE49-F238E27FC236}">
                <a16:creationId xmlns:a16="http://schemas.microsoft.com/office/drawing/2014/main" id="{E460D849-5ADA-4E1B-9646-5A3C0291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unbudgeted</a:t>
            </a:r>
          </a:p>
        </p:txBody>
      </p:sp>
      <p:sp>
        <p:nvSpPr>
          <p:cNvPr id="17" name="ab-desc-4">
            <a:extLst xmlns:a="http://schemas.openxmlformats.org/drawingml/2006/main">
              <a:ext uri="{FF2B5EF4-FFF2-40B4-BE49-F238E27FC236}">
                <a16:creationId xmlns:a16="http://schemas.microsoft.com/office/drawing/2014/main" id="{1E8FA6DC-A156-4274-A9FE-5E959C41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81400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8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88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remove a garantia de capacidade livre</a:t>
            </a:r>
          </a:p>
        </p:txBody>
      </p:sp>
      <p:sp>
        <p:nvSpPr>
          <p:cNvPr id="18" name="rule-42-446">
            <a:extLst xmlns:a="http://schemas.openxmlformats.org/drawingml/2006/main">
              <a:ext uri="{FF2B5EF4-FFF2-40B4-BE49-F238E27FC236}">
                <a16:creationId xmlns:a16="http://schemas.microsoft.com/office/drawing/2014/main" id="{EBBB130A-C899-4D7B-A493-9F0353BB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5286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b-name-5">
            <a:extLst xmlns:a="http://schemas.openxmlformats.org/drawingml/2006/main">
              <a:ext uri="{FF2B5EF4-FFF2-40B4-BE49-F238E27FC236}">
                <a16:creationId xmlns:a16="http://schemas.microsoft.com/office/drawing/2014/main" id="{133353D3-C988-4DDD-A7FC-D1B56C44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814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none</a:t>
            </a:r>
          </a:p>
        </p:txBody>
      </p:sp>
      <p:sp>
        <p:nvSpPr>
          <p:cNvPr id="20" name="ab-desc-5">
            <a:extLst xmlns:a="http://schemas.openxmlformats.org/drawingml/2006/main">
              <a:ext uri="{FF2B5EF4-FFF2-40B4-BE49-F238E27FC236}">
                <a16:creationId xmlns:a16="http://schemas.microsoft.com/office/drawing/2014/main" id="{11D39325-6851-417D-82BF-109A7142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81400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5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88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wiring SlowHeat sem consolidacao</a:t>
            </a:r>
          </a:p>
        </p:txBody>
      </p:sp>
      <p:sp>
        <p:nvSpPr>
          <p:cNvPr id="21" name="rule-648-446">
            <a:extLst xmlns:a="http://schemas.openxmlformats.org/drawingml/2006/main">
              <a:ext uri="{FF2B5EF4-FFF2-40B4-BE49-F238E27FC236}">
                <a16:creationId xmlns:a16="http://schemas.microsoft.com/office/drawing/2014/main" id="{24A87D16-B70F-4870-8392-28BE9196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48150"/>
            <a:ext cx="5286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b-name-6">
            <a:extLst xmlns:a="http://schemas.openxmlformats.org/drawingml/2006/main">
              <a:ext uri="{FF2B5EF4-FFF2-40B4-BE49-F238E27FC236}">
                <a16:creationId xmlns:a16="http://schemas.microsoft.com/office/drawing/2014/main" id="{0B1122E9-1914-49A4-852A-31C3BB59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386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hard_freeze</a:t>
            </a:r>
          </a:p>
        </p:txBody>
      </p:sp>
      <p:sp>
        <p:nvSpPr>
          <p:cNvPr id="23" name="ab-desc-6">
            <a:extLst xmlns:a="http://schemas.openxmlformats.org/drawingml/2006/main">
              <a:ext uri="{FF2B5EF4-FFF2-40B4-BE49-F238E27FC236}">
                <a16:creationId xmlns:a16="http://schemas.microsoft.com/office/drawing/2014/main" id="{B23F90F3-C003-441E-97AD-C051BBE7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638675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88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mascara binaria exata</a:t>
            </a:r>
          </a:p>
        </p:txBody>
      </p:sp>
      <p:sp>
        <p:nvSpPr>
          <p:cNvPr id="24" name="rule-42-557">
            <a:extLst xmlns:a="http://schemas.openxmlformats.org/drawingml/2006/main">
              <a:ext uri="{FF2B5EF4-FFF2-40B4-BE49-F238E27FC236}">
                <a16:creationId xmlns:a16="http://schemas.microsoft.com/office/drawing/2014/main" id="{A1E39611-9E34-4DA5-90D8-5A76B1F5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05425"/>
            <a:ext cx="5286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b-name-7">
            <a:extLst xmlns:a="http://schemas.openxmlformats.org/drawingml/2006/main">
              <a:ext uri="{FF2B5EF4-FFF2-40B4-BE49-F238E27FC236}">
                <a16:creationId xmlns:a16="http://schemas.microsoft.com/office/drawing/2014/main" id="{B0BD51BA-DF7C-4EB6-884E-41C009E1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386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hidden</a:t>
            </a:r>
          </a:p>
        </p:txBody>
      </p:sp>
      <p:sp>
        <p:nvSpPr>
          <p:cNvPr id="26" name="ab-desc-7">
            <a:extLst xmlns:a="http://schemas.openxmlformats.org/drawingml/2006/main">
              <a:ext uri="{FF2B5EF4-FFF2-40B4-BE49-F238E27FC236}">
                <a16:creationId xmlns:a16="http://schemas.microsoft.com/office/drawing/2014/main" id="{A854B3FE-A0B3-44FC-873D-B00A3831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38675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88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cabeca de saida fica plastica</a:t>
            </a:r>
          </a:p>
        </p:txBody>
      </p:sp>
      <p:sp>
        <p:nvSpPr>
          <p:cNvPr id="27" name="rule-648-557">
            <a:extLst xmlns:a="http://schemas.openxmlformats.org/drawingml/2006/main">
              <a:ext uri="{FF2B5EF4-FFF2-40B4-BE49-F238E27FC236}">
                <a16:creationId xmlns:a16="http://schemas.microsoft.com/office/drawing/2014/main" id="{F92A34E1-B938-43A6-9207-090164F4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05425"/>
            <a:ext cx="5286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ab-warning">
            <a:extLst xmlns:a="http://schemas.openxmlformats.org/drawingml/2006/main">
              <a:ext uri="{FF2B5EF4-FFF2-40B4-BE49-F238E27FC236}">
                <a16:creationId xmlns:a16="http://schemas.microsoft.com/office/drawing/2014/main" id="{D8444E83-EAE7-4DA5-9BE2-A6B76FE3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071"/>
                </a:solidFill>
                <a:latin typeface="Arial"/>
                <a:ea typeface="Arial"/>
                <a:cs typeface="Arial"/>
              </a:rPr>
              <a:t>Ablacao nao e um novo artigo: cada nome estruturado combina escolhas locais sobre sinal, escopo, budget, estado do otimizador e metodo auxiliar.</a:t>
            </a:r>
          </a:p>
        </p:txBody>
      </p:sp>
      <p:sp>
        <p:nvSpPr>
          <p:cNvPr id="29" name="footer-10">
            <a:extLst xmlns:a="http://schemas.openxmlformats.org/drawingml/2006/main">
              <a:ext uri="{FF2B5EF4-FFF2-40B4-BE49-F238E27FC236}">
                <a16:creationId xmlns:a16="http://schemas.microsoft.com/office/drawing/2014/main" id="{453C9D86-4A4D-4EBE-8A3A-EDAE1821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Resultados preliminares  |  n = 10 seeds</a:t>
            </a:r>
          </a:p>
        </p:txBody>
      </p:sp>
      <p:sp>
        <p:nvSpPr>
          <p:cNvPr id="30" name="page-10">
            <a:extLst xmlns:a="http://schemas.openxmlformats.org/drawingml/2006/main">
              <a:ext uri="{FF2B5EF4-FFF2-40B4-BE49-F238E27FC236}">
                <a16:creationId xmlns:a16="http://schemas.microsoft.com/office/drawing/2014/main" id="{AFE66067-2FD4-482F-8827-0A40C498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418656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1C5E9E7B-D481-46DC-B776-88FC95F2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FUNCTIONAL SLOWHEAT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2F0649A-B992-4F47-A6BC-0EE72FDE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33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Permuted-MNIST: DER++ domina a acuracia; SlowHeat reduz o forgetting</a:t>
            </a:r>
          </a:p>
        </p:txBody>
      </p:sp>
      <p:sp>
        <p:nvSpPr>
          <p:cNvPr id="3" name="rule-42-125">
            <a:extLst xmlns:a="http://schemas.openxmlformats.org/drawingml/2006/main">
              <a:ext uri="{FF2B5EF4-FFF2-40B4-BE49-F238E27FC236}">
                <a16:creationId xmlns:a16="http://schemas.microsoft.com/office/drawing/2014/main" id="{C30D01EA-E664-4CD1-8A7A-C6AD87A2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erm-acc-label">
            <a:extLst xmlns:a="http://schemas.openxmlformats.org/drawingml/2006/main">
              <a:ext uri="{FF2B5EF4-FFF2-40B4-BE49-F238E27FC236}">
                <a16:creationId xmlns:a16="http://schemas.microsoft.com/office/drawing/2014/main" id="{15B9925E-80C7-433C-8268-B21492B9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ACC final (%)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00050" y="1752600"/>
          <a:ext xmlns:a="http://schemas.openxmlformats.org/drawingml/2006/main" cx="5143500" cy="3733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35066238864113"/>
          </a:graphicData>
        </a:graphic>
      </p:graphicFrame>
      <p:sp>
        <p:nvSpPr>
          <p:cNvPr id="6" name="perm-forget-label">
            <a:extLst xmlns:a="http://schemas.openxmlformats.org/drawingml/2006/main">
              <a:ext uri="{FF2B5EF4-FFF2-40B4-BE49-F238E27FC236}">
                <a16:creationId xmlns:a16="http://schemas.microsoft.com/office/drawing/2014/main" id="{458773C8-5BA6-470E-B234-9281F553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097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E9D7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9D72"/>
                </a:solidFill>
                <a:latin typeface="Arial"/>
                <a:ea typeface="Arial"/>
                <a:cs typeface="Arial"/>
              </a:rPr>
              <a:t>Forgetting (%)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267450" y="1752600"/>
          <a:ext xmlns:a="http://schemas.openxmlformats.org/drawingml/2006/main" cx="5143500" cy="3733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2594a94fe54f89"/>
          </a:graphicData>
        </a:graphic>
      </p:graphicFrame>
      <p:sp>
        <p:nvSpPr>
          <p:cNvPr id="8" name="perm-interpret">
            <a:extLst xmlns:a="http://schemas.openxmlformats.org/drawingml/2006/main">
              <a:ext uri="{FF2B5EF4-FFF2-40B4-BE49-F238E27FC236}">
                <a16:creationId xmlns:a16="http://schemas.microsoft.com/office/drawing/2014/main" id="{E37FAC79-450E-47AC-9DB5-0C8C52EC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01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SH + DER++: 95,56% ACC e 0,38% forgetting · DER++: 95,52% e 0,94%.</a:t>
            </a:r>
          </a:p>
        </p:txBody>
      </p:sp>
      <p:sp>
        <p:nvSpPr>
          <p:cNvPr id="9" name="footer-11">
            <a:extLst xmlns:a="http://schemas.openxmlformats.org/drawingml/2006/main">
              <a:ext uri="{FF2B5EF4-FFF2-40B4-BE49-F238E27FC236}">
                <a16:creationId xmlns:a16="http://schemas.microsoft.com/office/drawing/2014/main" id="{E8F13A21-15B0-45C7-A151-A43CBEEF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Resultados preliminares  |  n = 10 seeds</a:t>
            </a:r>
          </a:p>
        </p:txBody>
      </p:sp>
      <p:sp>
        <p:nvSpPr>
          <p:cNvPr id="10" name="page-11">
            <a:extLst xmlns:a="http://schemas.openxmlformats.org/drawingml/2006/main">
              <a:ext uri="{FF2B5EF4-FFF2-40B4-BE49-F238E27FC236}">
                <a16:creationId xmlns:a16="http://schemas.microsoft.com/office/drawing/2014/main" id="{EF96FD19-37D5-4D83-BFBC-0D875B8B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953676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24CF37A2-F88B-42E7-9158-45695268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FUNCTIONAL SLOWHEAT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9042418-E840-4281-A63F-8121E1B8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9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Split-MNIST: SlowHeat + DER++ alcanca a maior acuracia media</a:t>
            </a:r>
          </a:p>
        </p:txBody>
      </p:sp>
      <p:sp>
        <p:nvSpPr>
          <p:cNvPr id="3" name="rule-42-125">
            <a:extLst xmlns:a="http://schemas.openxmlformats.org/drawingml/2006/main">
              <a:ext uri="{FF2B5EF4-FFF2-40B4-BE49-F238E27FC236}">
                <a16:creationId xmlns:a16="http://schemas.microsoft.com/office/drawing/2014/main" id="{3751863A-F48F-4ECC-9314-907ABC87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plit-acc-label">
            <a:extLst xmlns:a="http://schemas.openxmlformats.org/drawingml/2006/main">
              <a:ext uri="{FF2B5EF4-FFF2-40B4-BE49-F238E27FC236}">
                <a16:creationId xmlns:a16="http://schemas.microsoft.com/office/drawing/2014/main" id="{D0FDFFFA-10CA-42F0-B3D7-AEC1E197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ACC final (%)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00050" y="1752600"/>
          <a:ext xmlns:a="http://schemas.openxmlformats.org/drawingml/2006/main" cx="5143500" cy="3733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f5eecc51e7475f"/>
          </a:graphicData>
        </a:graphic>
      </p:graphicFrame>
      <p:sp>
        <p:nvSpPr>
          <p:cNvPr id="6" name="split-forget-label">
            <a:extLst xmlns:a="http://schemas.openxmlformats.org/drawingml/2006/main">
              <a:ext uri="{FF2B5EF4-FFF2-40B4-BE49-F238E27FC236}">
                <a16:creationId xmlns:a16="http://schemas.microsoft.com/office/drawing/2014/main" id="{11E4A04E-1892-45BE-A13E-BEAC8C9E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097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E9D7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9D72"/>
                </a:solidFill>
                <a:latin typeface="Arial"/>
                <a:ea typeface="Arial"/>
                <a:cs typeface="Arial"/>
              </a:rPr>
              <a:t>Forgetting (%)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267450" y="1752600"/>
          <a:ext xmlns:a="http://schemas.openxmlformats.org/drawingml/2006/main" cx="5143500" cy="3733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e6770cb45f4952"/>
          </a:graphicData>
        </a:graphic>
      </p:graphicFrame>
      <p:sp>
        <p:nvSpPr>
          <p:cNvPr id="8" name="split-interpret">
            <a:extLst xmlns:a="http://schemas.openxmlformats.org/drawingml/2006/main">
              <a:ext uri="{FF2B5EF4-FFF2-40B4-BE49-F238E27FC236}">
                <a16:creationId xmlns:a16="http://schemas.microsoft.com/office/drawing/2014/main" id="{C583012B-6FE3-4557-858A-742BCEFB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01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SH + DER++: 85,06% ACC e 16,19% forgetting · DER++: 82,50% e 20,37%.</a:t>
            </a:r>
          </a:p>
        </p:txBody>
      </p:sp>
      <p:sp>
        <p:nvSpPr>
          <p:cNvPr id="9" name="footer-12">
            <a:extLst xmlns:a="http://schemas.openxmlformats.org/drawingml/2006/main">
              <a:ext uri="{FF2B5EF4-FFF2-40B4-BE49-F238E27FC236}">
                <a16:creationId xmlns:a16="http://schemas.microsoft.com/office/drawing/2014/main" id="{B3D5B90B-A542-4C84-B194-8D256A5B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Resultados preliminares  |  n = 10 seeds</a:t>
            </a:r>
          </a:p>
        </p:txBody>
      </p:sp>
      <p:sp>
        <p:nvSpPr>
          <p:cNvPr id="10" name="page-12">
            <a:extLst xmlns:a="http://schemas.openxmlformats.org/drawingml/2006/main">
              <a:ext uri="{FF2B5EF4-FFF2-40B4-BE49-F238E27FC236}">
                <a16:creationId xmlns:a16="http://schemas.microsoft.com/office/drawing/2014/main" id="{ADAF9710-F7AB-43AB-95D8-A1CDD845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118313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83B25C32-4AEB-4F37-B588-1800A9DB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FUNCTIONAL SLOWHEAT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9C24B62-17C9-4C8A-96FE-A56C1F08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Classifier gap separa representacao de calibracao</a:t>
            </a:r>
          </a:p>
        </p:txBody>
      </p:sp>
      <p:sp>
        <p:nvSpPr>
          <p:cNvPr id="3" name="rule-42-125">
            <a:extLst xmlns:a="http://schemas.openxmlformats.org/drawingml/2006/main">
              <a:ext uri="{FF2B5EF4-FFF2-40B4-BE49-F238E27FC236}">
                <a16:creationId xmlns:a16="http://schemas.microsoft.com/office/drawing/2014/main" id="{9BEAD6BB-9DCB-4D00-BBE8-BB514BB4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400050" y="1504950"/>
          <a:ext xmlns:a="http://schemas.openxmlformats.org/drawingml/2006/main" cx="7239000" cy="4429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e2718c95af4bf2"/>
          </a:graphicData>
        </a:graphic>
      </p:graphicFrame>
      <p:sp>
        <p:nvSpPr>
          <p:cNvPr id="5" name="gap-callout">
            <a:extLst xmlns:a="http://schemas.openxmlformats.org/drawingml/2006/main">
              <a:ext uri="{FF2B5EF4-FFF2-40B4-BE49-F238E27FC236}">
                <a16:creationId xmlns:a16="http://schemas.microsoft.com/office/drawing/2014/main" id="{84F54C30-BB42-4670-98BA-AE7B50EA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95450"/>
            <a:ext cx="3333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A-GEM e LwF ainda distinguem classes dentro da tarefa quando recebem o task ID, mas falham na competicao global entre os dez logits.</a:t>
            </a:r>
          </a:p>
        </p:txBody>
      </p:sp>
      <p:sp>
        <p:nvSpPr>
          <p:cNvPr id="6" name="gap-metric">
            <a:extLst xmlns:a="http://schemas.openxmlformats.org/drawingml/2006/main">
              <a:ext uri="{FF2B5EF4-FFF2-40B4-BE49-F238E27FC236}">
                <a16:creationId xmlns:a16="http://schemas.microsoft.com/office/drawing/2014/main" id="{0B010B4D-4D59-45DF-BADC-95026981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76675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C64E4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C64E4E"/>
                </a:solidFill>
                <a:latin typeface="Arial"/>
                <a:ea typeface="Arial"/>
                <a:cs typeface="Arial"/>
              </a:rPr>
              <a:t>71,41 p.p.</a:t>
            </a:r>
          </a:p>
        </p:txBody>
      </p:sp>
      <p:sp>
        <p:nvSpPr>
          <p:cNvPr id="7" name="gap-label">
            <a:extLst xmlns:a="http://schemas.openxmlformats.org/drawingml/2006/main">
              <a:ext uri="{FF2B5EF4-FFF2-40B4-BE49-F238E27FC236}">
                <a16:creationId xmlns:a16="http://schemas.microsoft.com/office/drawing/2014/main" id="{18B1EB88-D4E8-4627-82AC-548985A2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529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classifier gap do A-GEM</a:t>
            </a:r>
          </a:p>
        </p:txBody>
      </p:sp>
      <p:sp>
        <p:nvSpPr>
          <p:cNvPr id="8" name="gap-meaning">
            <a:extLst xmlns:a="http://schemas.openxmlformats.org/drawingml/2006/main">
              <a:ext uri="{FF2B5EF4-FFF2-40B4-BE49-F238E27FC236}">
                <a16:creationId xmlns:a16="http://schemas.microsoft.com/office/drawing/2014/main" id="{A7BE6179-29BD-496B-867E-382F6A91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6732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 cabeca global - nao apenas a representacao - e parte central do problema.</a:t>
            </a:r>
          </a:p>
        </p:txBody>
      </p:sp>
      <p:sp>
        <p:nvSpPr>
          <p:cNvPr id="9" name="footer-13">
            <a:extLst xmlns:a="http://schemas.openxmlformats.org/drawingml/2006/main">
              <a:ext uri="{FF2B5EF4-FFF2-40B4-BE49-F238E27FC236}">
                <a16:creationId xmlns:a16="http://schemas.microsoft.com/office/drawing/2014/main" id="{5A3FDC54-D547-4F59-9B02-D39EA7A4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Resultados preliminares  |  n = 10 seeds</a:t>
            </a:r>
          </a:p>
        </p:txBody>
      </p:sp>
      <p:sp>
        <p:nvSpPr>
          <p:cNvPr id="10" name="page-13">
            <a:extLst xmlns:a="http://schemas.openxmlformats.org/drawingml/2006/main">
              <a:ext uri="{FF2B5EF4-FFF2-40B4-BE49-F238E27FC236}">
                <a16:creationId xmlns:a16="http://schemas.microsoft.com/office/drawing/2014/main" id="{39ED511C-6534-4A27-A92B-0C4B7491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807200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eyebrow">
            <a:extLst xmlns:a="http://schemas.openxmlformats.org/drawingml/2006/main">
              <a:ext uri="{FF2B5EF4-FFF2-40B4-BE49-F238E27FC236}">
                <a16:creationId xmlns:a16="http://schemas.microsoft.com/office/drawing/2014/main" id="{D6BDC8C6-7687-438D-8A63-1A5F2AB0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FUNCTIONAL SLOWHEAT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D836CE5-E86D-4B58-90DD-DB4ECDE1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SlowHeat melhora acuracia, mas aumenta o tempo</a:t>
            </a:r>
          </a:p>
        </p:txBody>
      </p:sp>
      <p:sp>
        <p:nvSpPr>
          <p:cNvPr id="3" name="rule-42-125">
            <a:extLst xmlns:a="http://schemas.openxmlformats.org/drawingml/2006/main">
              <a:ext uri="{FF2B5EF4-FFF2-40B4-BE49-F238E27FC236}">
                <a16:creationId xmlns:a16="http://schemas.microsoft.com/office/drawing/2014/main" id="{C6A23725-8A29-4D49-9B22-55E2004F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st-h-0">
            <a:extLst xmlns:a="http://schemas.openxmlformats.org/drawingml/2006/main">
              <a:ext uri="{FF2B5EF4-FFF2-40B4-BE49-F238E27FC236}">
                <a16:creationId xmlns:a16="http://schemas.microsoft.com/office/drawing/2014/main" id="{791D4DCD-2433-4CE4-A807-3FF4405C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526071"/>
                </a:solidFill>
                <a:latin typeface="Arial"/>
                <a:ea typeface="Arial"/>
                <a:cs typeface="Arial"/>
              </a:rPr>
              <a:t>Metodo</a:t>
            </a:r>
          </a:p>
        </p:txBody>
      </p:sp>
      <p:sp>
        <p:nvSpPr>
          <p:cNvPr id="5" name="cost-h-1">
            <a:extLst xmlns:a="http://schemas.openxmlformats.org/drawingml/2006/main">
              <a:ext uri="{FF2B5EF4-FFF2-40B4-BE49-F238E27FC236}">
                <a16:creationId xmlns:a16="http://schemas.microsoft.com/office/drawing/2014/main" id="{30C74A5B-A877-4ECE-81EB-26A8D8CF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43050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526071"/>
                </a:solidFill>
                <a:latin typeface="Arial"/>
                <a:ea typeface="Arial"/>
                <a:cs typeface="Arial"/>
              </a:rPr>
              <a:t>ACC</a:t>
            </a:r>
          </a:p>
        </p:txBody>
      </p:sp>
      <p:sp>
        <p:nvSpPr>
          <p:cNvPr id="6" name="cost-h-2">
            <a:extLst xmlns:a="http://schemas.openxmlformats.org/drawingml/2006/main">
              <a:ext uri="{FF2B5EF4-FFF2-40B4-BE49-F238E27FC236}">
                <a16:creationId xmlns:a16="http://schemas.microsoft.com/office/drawing/2014/main" id="{F79D4247-562E-4687-9AB8-5B345027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543050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526071"/>
                </a:solidFill>
                <a:latin typeface="Arial"/>
                <a:ea typeface="Arial"/>
                <a:cs typeface="Arial"/>
              </a:rPr>
              <a:t>Tempo</a:t>
            </a:r>
          </a:p>
        </p:txBody>
      </p:sp>
      <p:sp>
        <p:nvSpPr>
          <p:cNvPr id="7" name="cost-h-3">
            <a:extLst xmlns:a="http://schemas.openxmlformats.org/drawingml/2006/main">
              <a:ext uri="{FF2B5EF4-FFF2-40B4-BE49-F238E27FC236}">
                <a16:creationId xmlns:a16="http://schemas.microsoft.com/office/drawing/2014/main" id="{20DF78DD-9434-4DE2-86A1-6AD9E378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543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526071"/>
                </a:solidFill>
                <a:latin typeface="Arial"/>
                <a:ea typeface="Arial"/>
                <a:cs typeface="Arial"/>
              </a:rPr>
              <a:t>FLOPs</a:t>
            </a:r>
          </a:p>
        </p:txBody>
      </p:sp>
      <p:sp>
        <p:nvSpPr>
          <p:cNvPr id="8" name="cost-h-4">
            <a:extLst xmlns:a="http://schemas.openxmlformats.org/drawingml/2006/main">
              <a:ext uri="{FF2B5EF4-FFF2-40B4-BE49-F238E27FC236}">
                <a16:creationId xmlns:a16="http://schemas.microsoft.com/office/drawing/2014/main" id="{0AEECF4C-C95E-41F5-9C2E-13975AFC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543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526071"/>
                </a:solidFill>
                <a:latin typeface="Arial"/>
                <a:ea typeface="Arial"/>
                <a:cs typeface="Arial"/>
              </a:rPr>
              <a:t>Memoria</a:t>
            </a:r>
          </a:p>
        </p:txBody>
      </p:sp>
      <p:sp>
        <p:nvSpPr>
          <p:cNvPr id="9" name="rule-42-204">
            <a:extLst xmlns:a="http://schemas.openxmlformats.org/drawingml/2006/main">
              <a:ext uri="{FF2B5EF4-FFF2-40B4-BE49-F238E27FC236}">
                <a16:creationId xmlns:a16="http://schemas.microsoft.com/office/drawing/2014/main" id="{CDC3C4FF-4ADA-4F41-BD50-B0AB889B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11172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st-0-0">
            <a:extLst xmlns:a="http://schemas.openxmlformats.org/drawingml/2006/main">
              <a:ext uri="{FF2B5EF4-FFF2-40B4-BE49-F238E27FC236}">
                <a16:creationId xmlns:a16="http://schemas.microsoft.com/office/drawing/2014/main" id="{8A8B8D91-6479-4726-B332-0A588335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Replay + early stopping</a:t>
            </a:r>
          </a:p>
        </p:txBody>
      </p:sp>
      <p:sp>
        <p:nvSpPr>
          <p:cNvPr id="11" name="cost-0-1">
            <a:extLst xmlns:a="http://schemas.openxmlformats.org/drawingml/2006/main">
              <a:ext uri="{FF2B5EF4-FFF2-40B4-BE49-F238E27FC236}">
                <a16:creationId xmlns:a16="http://schemas.microsoft.com/office/drawing/2014/main" id="{C8BB9317-A3AC-4BD0-B0BB-BF977C6E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77,46%</a:t>
            </a:r>
          </a:p>
        </p:txBody>
      </p:sp>
      <p:sp>
        <p:nvSpPr>
          <p:cNvPr id="12" name="cost-0-2">
            <a:extLst xmlns:a="http://schemas.openxmlformats.org/drawingml/2006/main">
              <a:ext uri="{FF2B5EF4-FFF2-40B4-BE49-F238E27FC236}">
                <a16:creationId xmlns:a16="http://schemas.microsoft.com/office/drawing/2014/main" id="{2FB7FB1A-08CE-4891-ACE0-A8B92BAD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5265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3,85 s</a:t>
            </a:r>
          </a:p>
        </p:txBody>
      </p:sp>
      <p:sp>
        <p:nvSpPr>
          <p:cNvPr id="13" name="cost-0-3">
            <a:extLst xmlns:a="http://schemas.openxmlformats.org/drawingml/2006/main">
              <a:ext uri="{FF2B5EF4-FFF2-40B4-BE49-F238E27FC236}">
                <a16:creationId xmlns:a16="http://schemas.microsoft.com/office/drawing/2014/main" id="{7D17F8A8-FBED-448B-AA0E-0BAEF301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1526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135,6 G</a:t>
            </a:r>
          </a:p>
        </p:txBody>
      </p:sp>
      <p:sp>
        <p:nvSpPr>
          <p:cNvPr id="14" name="cost-0-4">
            <a:extLst xmlns:a="http://schemas.openxmlformats.org/drawingml/2006/main">
              <a:ext uri="{FF2B5EF4-FFF2-40B4-BE49-F238E27FC236}">
                <a16:creationId xmlns:a16="http://schemas.microsoft.com/office/drawing/2014/main" id="{EA57AA84-0030-4787-9FF5-000E4A29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526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0,629 MB</a:t>
            </a:r>
          </a:p>
        </p:txBody>
      </p:sp>
      <p:sp>
        <p:nvSpPr>
          <p:cNvPr id="15" name="rule-42-281">
            <a:extLst xmlns:a="http://schemas.openxmlformats.org/drawingml/2006/main">
              <a:ext uri="{FF2B5EF4-FFF2-40B4-BE49-F238E27FC236}">
                <a16:creationId xmlns:a16="http://schemas.microsoft.com/office/drawing/2014/main" id="{EABBF9DB-6A8F-467C-A392-7A739149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76525"/>
            <a:ext cx="11172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st-1-0">
            <a:extLst xmlns:a="http://schemas.openxmlformats.org/drawingml/2006/main">
              <a:ext uri="{FF2B5EF4-FFF2-40B4-BE49-F238E27FC236}">
                <a16:creationId xmlns:a16="http://schemas.microsoft.com/office/drawing/2014/main" id="{4FE1A6C2-F853-4A71-9257-8869AB52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Replay</a:t>
            </a:r>
          </a:p>
        </p:txBody>
      </p:sp>
      <p:sp>
        <p:nvSpPr>
          <p:cNvPr id="17" name="cost-1-1">
            <a:extLst xmlns:a="http://schemas.openxmlformats.org/drawingml/2006/main">
              <a:ext uri="{FF2B5EF4-FFF2-40B4-BE49-F238E27FC236}">
                <a16:creationId xmlns:a16="http://schemas.microsoft.com/office/drawing/2014/main" id="{BEB26A44-E2B2-4B60-8100-1AED99C4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7655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76,27%</a:t>
            </a:r>
          </a:p>
        </p:txBody>
      </p:sp>
      <p:sp>
        <p:nvSpPr>
          <p:cNvPr id="18" name="cost-1-2">
            <a:extLst xmlns:a="http://schemas.openxmlformats.org/drawingml/2006/main">
              <a:ext uri="{FF2B5EF4-FFF2-40B4-BE49-F238E27FC236}">
                <a16:creationId xmlns:a16="http://schemas.microsoft.com/office/drawing/2014/main" id="{DCE30AE7-4FD1-4742-B345-0647C85C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7655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5,51 s</a:t>
            </a:r>
          </a:p>
        </p:txBody>
      </p:sp>
      <p:sp>
        <p:nvSpPr>
          <p:cNvPr id="19" name="cost-1-3">
            <a:extLst xmlns:a="http://schemas.openxmlformats.org/drawingml/2006/main">
              <a:ext uri="{FF2B5EF4-FFF2-40B4-BE49-F238E27FC236}">
                <a16:creationId xmlns:a16="http://schemas.microsoft.com/office/drawing/2014/main" id="{2CDD7BC4-8473-4D9B-B889-9A500124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765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201,9 G</a:t>
            </a:r>
          </a:p>
        </p:txBody>
      </p:sp>
      <p:sp>
        <p:nvSpPr>
          <p:cNvPr id="20" name="cost-1-4">
            <a:extLst xmlns:a="http://schemas.openxmlformats.org/drawingml/2006/main">
              <a:ext uri="{FF2B5EF4-FFF2-40B4-BE49-F238E27FC236}">
                <a16:creationId xmlns:a16="http://schemas.microsoft.com/office/drawing/2014/main" id="{00F0117F-E499-4C37-A256-3404A114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765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0,629 MB</a:t>
            </a:r>
          </a:p>
        </p:txBody>
      </p:sp>
      <p:sp>
        <p:nvSpPr>
          <p:cNvPr id="21" name="rule-42-357">
            <a:extLst xmlns:a="http://schemas.openxmlformats.org/drawingml/2006/main">
              <a:ext uri="{FF2B5EF4-FFF2-40B4-BE49-F238E27FC236}">
                <a16:creationId xmlns:a16="http://schemas.microsoft.com/office/drawing/2014/main" id="{C30F7268-7EAA-4D79-B838-92EB63C9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0425"/>
            <a:ext cx="11172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st-2-0">
            <a:extLst xmlns:a="http://schemas.openxmlformats.org/drawingml/2006/main">
              <a:ext uri="{FF2B5EF4-FFF2-40B4-BE49-F238E27FC236}">
                <a16:creationId xmlns:a16="http://schemas.microsoft.com/office/drawing/2014/main" id="{4BBF6796-FE83-4263-AD90-86D4CE26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DER++</a:t>
            </a:r>
          </a:p>
        </p:txBody>
      </p:sp>
      <p:sp>
        <p:nvSpPr>
          <p:cNvPr id="23" name="cost-2-1">
            <a:extLst xmlns:a="http://schemas.openxmlformats.org/drawingml/2006/main">
              <a:ext uri="{FF2B5EF4-FFF2-40B4-BE49-F238E27FC236}">
                <a16:creationId xmlns:a16="http://schemas.microsoft.com/office/drawing/2014/main" id="{8B908ACE-2C05-43EB-A80B-C8487EEF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82,50%</a:t>
            </a:r>
          </a:p>
        </p:txBody>
      </p:sp>
      <p:sp>
        <p:nvSpPr>
          <p:cNvPr id="24" name="cost-2-2">
            <a:extLst xmlns:a="http://schemas.openxmlformats.org/drawingml/2006/main">
              <a:ext uri="{FF2B5EF4-FFF2-40B4-BE49-F238E27FC236}">
                <a16:creationId xmlns:a16="http://schemas.microsoft.com/office/drawing/2014/main" id="{1B5CA341-8B9F-413E-9654-BAE5BC5A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60045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5,59 s</a:t>
            </a:r>
          </a:p>
        </p:txBody>
      </p:sp>
      <p:sp>
        <p:nvSpPr>
          <p:cNvPr id="25" name="cost-2-3">
            <a:extLst xmlns:a="http://schemas.openxmlformats.org/drawingml/2006/main">
              <a:ext uri="{FF2B5EF4-FFF2-40B4-BE49-F238E27FC236}">
                <a16:creationId xmlns:a16="http://schemas.microsoft.com/office/drawing/2014/main" id="{23C8B227-DB23-4CDF-94D7-E977D262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6004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201,9 G</a:t>
            </a:r>
          </a:p>
        </p:txBody>
      </p:sp>
      <p:sp>
        <p:nvSpPr>
          <p:cNvPr id="26" name="cost-2-4">
            <a:extLst xmlns:a="http://schemas.openxmlformats.org/drawingml/2006/main">
              <a:ext uri="{FF2B5EF4-FFF2-40B4-BE49-F238E27FC236}">
                <a16:creationId xmlns:a16="http://schemas.microsoft.com/office/drawing/2014/main" id="{BBC847EA-5FFB-45BA-B7B1-97D12B7D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6004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0,629 MB + logits</a:t>
            </a:r>
          </a:p>
        </p:txBody>
      </p:sp>
      <p:sp>
        <p:nvSpPr>
          <p:cNvPr id="27" name="rule-42-433">
            <a:extLst xmlns:a="http://schemas.openxmlformats.org/drawingml/2006/main">
              <a:ext uri="{FF2B5EF4-FFF2-40B4-BE49-F238E27FC236}">
                <a16:creationId xmlns:a16="http://schemas.microsoft.com/office/drawing/2014/main" id="{7DF32803-87CE-4515-AB0C-F6488EE6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24325"/>
            <a:ext cx="11172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st-3-0">
            <a:extLst xmlns:a="http://schemas.openxmlformats.org/drawingml/2006/main">
              <a:ext uri="{FF2B5EF4-FFF2-40B4-BE49-F238E27FC236}">
                <a16:creationId xmlns:a16="http://schemas.microsoft.com/office/drawing/2014/main" id="{BB195D14-180B-4B36-B773-6ACFEF3B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SlowHeat + DER++</a:t>
            </a:r>
          </a:p>
        </p:txBody>
      </p:sp>
      <p:sp>
        <p:nvSpPr>
          <p:cNvPr id="29" name="cost-3-1">
            <a:extLst xmlns:a="http://schemas.openxmlformats.org/drawingml/2006/main">
              <a:ext uri="{FF2B5EF4-FFF2-40B4-BE49-F238E27FC236}">
                <a16:creationId xmlns:a16="http://schemas.microsoft.com/office/drawing/2014/main" id="{28189392-79EA-4C6A-83A7-0D3ED633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2435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85,06%</a:t>
            </a:r>
          </a:p>
        </p:txBody>
      </p:sp>
      <p:sp>
        <p:nvSpPr>
          <p:cNvPr id="30" name="cost-3-2">
            <a:extLst xmlns:a="http://schemas.openxmlformats.org/drawingml/2006/main">
              <a:ext uri="{FF2B5EF4-FFF2-40B4-BE49-F238E27FC236}">
                <a16:creationId xmlns:a16="http://schemas.microsoft.com/office/drawing/2014/main" id="{E224FEC3-FC2B-497C-B1B5-7A0CDCF2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2435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8,15 s</a:t>
            </a:r>
          </a:p>
        </p:txBody>
      </p:sp>
      <p:sp>
        <p:nvSpPr>
          <p:cNvPr id="31" name="cost-3-3">
            <a:extLst xmlns:a="http://schemas.openxmlformats.org/drawingml/2006/main">
              <a:ext uri="{FF2B5EF4-FFF2-40B4-BE49-F238E27FC236}">
                <a16:creationId xmlns:a16="http://schemas.microsoft.com/office/drawing/2014/main" id="{D5ED104B-631C-446E-8356-BDFDFFB6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3243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202,3 G</a:t>
            </a:r>
          </a:p>
        </p:txBody>
      </p:sp>
      <p:sp>
        <p:nvSpPr>
          <p:cNvPr id="32" name="cost-3-4">
            <a:extLst xmlns:a="http://schemas.openxmlformats.org/drawingml/2006/main">
              <a:ext uri="{FF2B5EF4-FFF2-40B4-BE49-F238E27FC236}">
                <a16:creationId xmlns:a16="http://schemas.microsoft.com/office/drawing/2014/main" id="{B60D176E-9520-4FA6-8FD7-AFDF4EBB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3243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0,629 MB + logits</a:t>
            </a:r>
          </a:p>
        </p:txBody>
      </p:sp>
      <p:sp>
        <p:nvSpPr>
          <p:cNvPr id="33" name="rule-42-509">
            <a:extLst xmlns:a="http://schemas.openxmlformats.org/drawingml/2006/main">
              <a:ext uri="{FF2B5EF4-FFF2-40B4-BE49-F238E27FC236}">
                <a16:creationId xmlns:a16="http://schemas.microsoft.com/office/drawing/2014/main" id="{1B09246C-2361-433B-A599-AA7ABA84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48225"/>
            <a:ext cx="11172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metric-num-42-548">
            <a:extLst xmlns:a="http://schemas.openxmlformats.org/drawingml/2006/main">
              <a:ext uri="{FF2B5EF4-FFF2-40B4-BE49-F238E27FC236}">
                <a16:creationId xmlns:a16="http://schemas.microsoft.com/office/drawing/2014/main" id="{CE01CC37-31E3-48DC-966C-131423C1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C64E4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C64E4E"/>
                </a:solidFill>
                <a:latin typeface="Arial"/>
                <a:ea typeface="Arial"/>
                <a:cs typeface="Arial"/>
              </a:rPr>
              <a:t>+45,8%</a:t>
            </a:r>
          </a:p>
        </p:txBody>
      </p:sp>
      <p:sp>
        <p:nvSpPr>
          <p:cNvPr id="35" name="metric-lab-42-548">
            <a:extLst xmlns:a="http://schemas.openxmlformats.org/drawingml/2006/main">
              <a:ext uri="{FF2B5EF4-FFF2-40B4-BE49-F238E27FC236}">
                <a16:creationId xmlns:a16="http://schemas.microsoft.com/office/drawing/2014/main" id="{ACFEA9E4-2092-4131-92C4-757C798A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tempo: SlowHeat + DER++ vs. DER++</a:t>
            </a:r>
          </a:p>
        </p:txBody>
      </p:sp>
      <p:sp>
        <p:nvSpPr>
          <p:cNvPr id="36" name="metric-num-455-548">
            <a:extLst xmlns:a="http://schemas.openxmlformats.org/drawingml/2006/main">
              <a:ext uri="{FF2B5EF4-FFF2-40B4-BE49-F238E27FC236}">
                <a16:creationId xmlns:a16="http://schemas.microsoft.com/office/drawing/2014/main" id="{260F8D95-8A46-439A-B86F-4ADBF03E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197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2E9D7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E9D72"/>
                </a:solidFill>
                <a:latin typeface="Arial"/>
                <a:ea typeface="Arial"/>
                <a:cs typeface="Arial"/>
              </a:rPr>
              <a:t>+0,20%</a:t>
            </a:r>
          </a:p>
        </p:txBody>
      </p:sp>
      <p:sp>
        <p:nvSpPr>
          <p:cNvPr id="37" name="metric-lab-455-548">
            <a:extLst xmlns:a="http://schemas.openxmlformats.org/drawingml/2006/main">
              <a:ext uri="{FF2B5EF4-FFF2-40B4-BE49-F238E27FC236}">
                <a16:creationId xmlns:a16="http://schemas.microsoft.com/office/drawing/2014/main" id="{BD46A2A6-FF5E-4572-A913-F590831C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8102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FLOPs estimados no mesmo contraste</a:t>
            </a:r>
          </a:p>
        </p:txBody>
      </p:sp>
      <p:sp>
        <p:nvSpPr>
          <p:cNvPr id="38" name="cost-why">
            <a:extLst xmlns:a="http://schemas.openxmlformats.org/drawingml/2006/main">
              <a:ext uri="{FF2B5EF4-FFF2-40B4-BE49-F238E27FC236}">
                <a16:creationId xmlns:a16="http://schemas.microsoft.com/office/drawing/2014/main" id="{7DF4832B-1BBD-4F51-B8FE-ABE81952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86375"/>
            <a:ext cx="3476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9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 diferenca sugere overhead de snapshots, estado e aplicacao de mascaras que a contagem teorica de FLOPs nao captura.</a:t>
            </a:r>
          </a:p>
        </p:txBody>
      </p:sp>
      <p:sp>
        <p:nvSpPr>
          <p:cNvPr id="39" name="footer-14">
            <a:extLst xmlns:a="http://schemas.openxmlformats.org/drawingml/2006/main">
              <a:ext uri="{FF2B5EF4-FFF2-40B4-BE49-F238E27FC236}">
                <a16:creationId xmlns:a16="http://schemas.microsoft.com/office/drawing/2014/main" id="{FEDAEC2A-E60B-4CBE-BEC8-FB325899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Resultados preliminares  |  n = 10 seeds</a:t>
            </a:r>
          </a:p>
        </p:txBody>
      </p:sp>
      <p:sp>
        <p:nvSpPr>
          <p:cNvPr id="40" name="page-14">
            <a:extLst xmlns:a="http://schemas.openxmlformats.org/drawingml/2006/main">
              <a:ext uri="{FF2B5EF4-FFF2-40B4-BE49-F238E27FC236}">
                <a16:creationId xmlns:a16="http://schemas.microsoft.com/office/drawing/2014/main" id="{C517D2B4-2635-45BC-A0AD-F72D9CFC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561618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20E3CC99-FBEE-4BF8-8733-2A29356D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FUNCTIONAL SLOWHEAT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A21C153-D699-4838-9DDE-15D52155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Quatro conclusoes resistem aos dois benchmarks</a:t>
            </a:r>
          </a:p>
        </p:txBody>
      </p:sp>
      <p:sp>
        <p:nvSpPr>
          <p:cNvPr id="3" name="rule-42-125">
            <a:extLst xmlns:a="http://schemas.openxmlformats.org/drawingml/2006/main">
              <a:ext uri="{FF2B5EF4-FFF2-40B4-BE49-F238E27FC236}">
                <a16:creationId xmlns:a16="http://schemas.microsoft.com/office/drawing/2014/main" id="{B9EC9AD4-48C0-4D19-8F53-A2A2ADC4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-num-0">
            <a:extLst xmlns:a="http://schemas.openxmlformats.org/drawingml/2006/main">
              <a:ext uri="{FF2B5EF4-FFF2-40B4-BE49-F238E27FC236}">
                <a16:creationId xmlns:a16="http://schemas.microsoft.com/office/drawing/2014/main" id="{0B92568B-7D24-4BE4-826B-5CF0856E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con-title-0">
            <a:extLst xmlns:a="http://schemas.openxmlformats.org/drawingml/2006/main">
              <a:ext uri="{FF2B5EF4-FFF2-40B4-BE49-F238E27FC236}">
                <a16:creationId xmlns:a16="http://schemas.microsoft.com/office/drawing/2014/main" id="{B9ED955F-DCEA-46C8-A55B-103DB16B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466850"/>
            <a:ext cx="4524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Replay e essencial em Class-IL</a:t>
            </a:r>
          </a:p>
        </p:txBody>
      </p:sp>
      <p:sp>
        <p:nvSpPr>
          <p:cNvPr id="6" name="con-copy-0">
            <a:extLst xmlns:a="http://schemas.openxmlformats.org/drawingml/2006/main">
              <a:ext uri="{FF2B5EF4-FFF2-40B4-BE49-F238E27FC236}">
                <a16:creationId xmlns:a16="http://schemas.microsoft.com/office/drawing/2014/main" id="{269DAFBF-C32B-4EAE-B570-352BC449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66925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SlowHeat isolado nao evita o colapso para ~20% no Split-MNIST.</a:t>
            </a:r>
          </a:p>
        </p:txBody>
      </p:sp>
      <p:sp>
        <p:nvSpPr>
          <p:cNvPr id="7" name="con-num-1">
            <a:extLst xmlns:a="http://schemas.openxmlformats.org/drawingml/2006/main">
              <a:ext uri="{FF2B5EF4-FFF2-40B4-BE49-F238E27FC236}">
                <a16:creationId xmlns:a16="http://schemas.microsoft.com/office/drawing/2014/main" id="{A2915192-31DC-433F-939A-5E124630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6685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con-title-1">
            <a:extLst xmlns:a="http://schemas.openxmlformats.org/drawingml/2006/main">
              <a:ext uri="{FF2B5EF4-FFF2-40B4-BE49-F238E27FC236}">
                <a16:creationId xmlns:a16="http://schemas.microsoft.com/office/drawing/2014/main" id="{11C5A138-FFCB-4E7F-B8F8-0BE29A19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66850"/>
            <a:ext cx="4524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DER++ e o baseline mais forte</a:t>
            </a:r>
          </a:p>
        </p:txBody>
      </p:sp>
      <p:sp>
        <p:nvSpPr>
          <p:cNvPr id="9" name="con-copy-1">
            <a:extLst xmlns:a="http://schemas.openxmlformats.org/drawingml/2006/main">
              <a:ext uri="{FF2B5EF4-FFF2-40B4-BE49-F238E27FC236}">
                <a16:creationId xmlns:a16="http://schemas.microsoft.com/office/drawing/2014/main" id="{ABF3D289-AA03-4370-9FB4-8023BF51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66925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Melhora claramente sobre Replay com custo e memoria adicionais pequenos.</a:t>
            </a:r>
          </a:p>
        </p:txBody>
      </p:sp>
      <p:sp>
        <p:nvSpPr>
          <p:cNvPr id="10" name="con-num-2">
            <a:extLst xmlns:a="http://schemas.openxmlformats.org/drawingml/2006/main">
              <a:ext uri="{FF2B5EF4-FFF2-40B4-BE49-F238E27FC236}">
                <a16:creationId xmlns:a16="http://schemas.microsoft.com/office/drawing/2014/main" id="{F3A062EE-1238-4D6C-BE32-9FD08D0F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0522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con-title-2">
            <a:extLst xmlns:a="http://schemas.openxmlformats.org/drawingml/2006/main">
              <a:ext uri="{FF2B5EF4-FFF2-40B4-BE49-F238E27FC236}">
                <a16:creationId xmlns:a16="http://schemas.microsoft.com/office/drawing/2014/main" id="{1931CC7C-B602-4C92-B9E9-96651631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05225"/>
            <a:ext cx="4524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8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SlowHeat funciona melhor como complemento</a:t>
            </a:r>
          </a:p>
        </p:txBody>
      </p:sp>
      <p:sp>
        <p:nvSpPr>
          <p:cNvPr id="12" name="con-copy-2">
            <a:extLst xmlns:a="http://schemas.openxmlformats.org/drawingml/2006/main">
              <a:ext uri="{FF2B5EF4-FFF2-40B4-BE49-F238E27FC236}">
                <a16:creationId xmlns:a16="http://schemas.microsoft.com/office/drawing/2014/main" id="{69800111-5597-4DB4-9510-7B72A7FB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053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A combinacao com DER++ e o resultado mais promissor; com Replay simples, o ganho e pequeno.</a:t>
            </a:r>
          </a:p>
        </p:txBody>
      </p:sp>
      <p:sp>
        <p:nvSpPr>
          <p:cNvPr id="13" name="con-num-3">
            <a:extLst xmlns:a="http://schemas.openxmlformats.org/drawingml/2006/main">
              <a:ext uri="{FF2B5EF4-FFF2-40B4-BE49-F238E27FC236}">
                <a16:creationId xmlns:a16="http://schemas.microsoft.com/office/drawing/2014/main" id="{380822E6-A58F-4D23-AB1C-58FBBB35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0522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con-title-3">
            <a:extLst xmlns:a="http://schemas.openxmlformats.org/drawingml/2006/main">
              <a:ext uri="{FF2B5EF4-FFF2-40B4-BE49-F238E27FC236}">
                <a16:creationId xmlns:a16="http://schemas.microsoft.com/office/drawing/2014/main" id="{6639D7D4-0D83-43EB-BF72-82637B36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05225"/>
            <a:ext cx="4524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 cabeca de saida importa</a:t>
            </a:r>
          </a:p>
        </p:txBody>
      </p:sp>
      <p:sp>
        <p:nvSpPr>
          <p:cNvPr id="15" name="con-copy-3">
            <a:extLst xmlns:a="http://schemas.openxmlformats.org/drawingml/2006/main">
              <a:ext uri="{FF2B5EF4-FFF2-40B4-BE49-F238E27FC236}">
                <a16:creationId xmlns:a16="http://schemas.microsoft.com/office/drawing/2014/main" id="{BCAF3D92-7616-4F67-A18D-B3119DC1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053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Hidden-only e calibracao de logits mudam fortemente o resultado class-incremental.</a:t>
            </a:r>
          </a:p>
        </p:txBody>
      </p:sp>
      <p:sp>
        <p:nvSpPr>
          <p:cNvPr id="16" name="footer-15">
            <a:extLst xmlns:a="http://schemas.openxmlformats.org/drawingml/2006/main">
              <a:ext uri="{FF2B5EF4-FFF2-40B4-BE49-F238E27FC236}">
                <a16:creationId xmlns:a16="http://schemas.microsoft.com/office/drawing/2014/main" id="{6699BB56-2392-45E8-891F-DD14F374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Resultados preliminares  |  n = 10 seeds</a:t>
            </a:r>
          </a:p>
        </p:txBody>
      </p:sp>
      <p:sp>
        <p:nvSpPr>
          <p:cNvPr id="17" name="page-15">
            <a:extLst xmlns:a="http://schemas.openxmlformats.org/drawingml/2006/main">
              <a:ext uri="{FF2B5EF4-FFF2-40B4-BE49-F238E27FC236}">
                <a16:creationId xmlns:a16="http://schemas.microsoft.com/office/drawing/2014/main" id="{C563B4BA-6389-4587-A832-3BFD1603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585936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59956158-5291-43C1-8700-6E7B6911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FUNCTIONAL SLOWHEAT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6DC6D07-05EC-48A3-86F3-FAE68685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 proxima etapa e confirmacao pareada</a:t>
            </a:r>
          </a:p>
        </p:txBody>
      </p:sp>
      <p:sp>
        <p:nvSpPr>
          <p:cNvPr id="3" name="rule-42-125">
            <a:extLst xmlns:a="http://schemas.openxmlformats.org/drawingml/2006/main">
              <a:ext uri="{FF2B5EF4-FFF2-40B4-BE49-F238E27FC236}">
                <a16:creationId xmlns:a16="http://schemas.microsoft.com/office/drawing/2014/main" id="{25921BAC-A51B-413D-A18C-10EE4EF5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tric-num-42-162">
            <a:extLst xmlns:a="http://schemas.openxmlformats.org/drawingml/2006/main">
              <a:ext uri="{FF2B5EF4-FFF2-40B4-BE49-F238E27FC236}">
                <a16:creationId xmlns:a16="http://schemas.microsoft.com/office/drawing/2014/main" id="{D5B263DD-4C10-4944-9E8F-BE1E2AC0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metric-lab-42-162">
            <a:extLst xmlns:a="http://schemas.openxmlformats.org/drawingml/2006/main">
              <a:ext uri="{FF2B5EF4-FFF2-40B4-BE49-F238E27FC236}">
                <a16:creationId xmlns:a16="http://schemas.microsoft.com/office/drawing/2014/main" id="{410BB605-8AF1-4891-9B92-5D3A5301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seeds agregadas em cada CSV</a:t>
            </a:r>
          </a:p>
        </p:txBody>
      </p:sp>
      <p:sp>
        <p:nvSpPr>
          <p:cNvPr id="6" name="metric-num-410-162">
            <a:extLst xmlns:a="http://schemas.openxmlformats.org/drawingml/2006/main">
              <a:ext uri="{FF2B5EF4-FFF2-40B4-BE49-F238E27FC236}">
                <a16:creationId xmlns:a16="http://schemas.microsoft.com/office/drawing/2014/main" id="{A62F7B02-04FB-4EB4-BEC0-03F1BAEA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430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metric-lab-410-162">
            <a:extLst xmlns:a="http://schemas.openxmlformats.org/drawingml/2006/main">
              <a:ext uri="{FF2B5EF4-FFF2-40B4-BE49-F238E27FC236}">
                <a16:creationId xmlns:a16="http://schemas.microsoft.com/office/drawing/2014/main" id="{65CAD064-8756-41A6-82A2-DE2F6E2C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336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benchmarks MNIST complementares</a:t>
            </a:r>
          </a:p>
        </p:txBody>
      </p:sp>
      <p:sp>
        <p:nvSpPr>
          <p:cNvPr id="8" name="metric-num-790-162">
            <a:extLst xmlns:a="http://schemas.openxmlformats.org/drawingml/2006/main">
              <a:ext uri="{FF2B5EF4-FFF2-40B4-BE49-F238E27FC236}">
                <a16:creationId xmlns:a16="http://schemas.microsoft.com/office/drawing/2014/main" id="{4714761F-277C-4ED4-949A-81265580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4305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metric-lab-790-162">
            <a:extLst xmlns:a="http://schemas.openxmlformats.org/drawingml/2006/main">
              <a:ext uri="{FF2B5EF4-FFF2-40B4-BE49-F238E27FC236}">
                <a16:creationId xmlns:a16="http://schemas.microsoft.com/office/drawing/2014/main" id="{6104BBAD-56E1-48CB-8F77-105EABAF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3360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resultados Split-CIFAR versionados</a:t>
            </a:r>
          </a:p>
        </p:txBody>
      </p:sp>
      <p:sp>
        <p:nvSpPr>
          <p:cNvPr id="10" name="rule-42-320">
            <a:extLst xmlns:a="http://schemas.openxmlformats.org/drawingml/2006/main">
              <a:ext uri="{FF2B5EF4-FFF2-40B4-BE49-F238E27FC236}">
                <a16:creationId xmlns:a16="http://schemas.microsoft.com/office/drawing/2014/main" id="{BD91FE47-505A-489C-B563-86224270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11172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s-42-365">
            <a:extLst xmlns:a="http://schemas.openxmlformats.org/drawingml/2006/main">
              <a:ext uri="{FF2B5EF4-FFF2-40B4-BE49-F238E27FC236}">
                <a16:creationId xmlns:a16="http://schemas.microsoft.com/office/drawing/2014/main" id="{8789C251-A6BF-4EB1-BC8E-5B904717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10668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00000"/>
              </a:lnSpc>
              <a:spcAft>
                <a:spcPts val="12"/>
              </a:spcAft>
              <a:buNone/>
              <a:defRPr sz="18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Reportar diferencas pareadas por seed, bootstrap/t de Student e tamanho de efeito.</a:t>
            </a:r>
          </a:p>
          <a:p xmlns:a="http://schemas.openxmlformats.org/drawingml/2006/main">
            <a:pPr marL="24" indent="-14" algn="l">
              <a:lnSpc>
                <a:spcPct val="100000"/>
              </a:lnSpc>
              <a:spcAft>
                <a:spcPts val="12"/>
              </a:spcAft>
              <a:buNone/>
              <a:defRPr sz="18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Pre-registrar uma confirmacao especifica de SlowHeat + DER++ contra DER++.</a:t>
            </a:r>
          </a:p>
          <a:p xmlns:a="http://schemas.openxmlformats.org/drawingml/2006/main">
            <a:pPr marL="24" indent="-14" algn="l">
              <a:lnSpc>
                <a:spcPct val="100000"/>
              </a:lnSpc>
              <a:spcAft>
                <a:spcPts val="12"/>
              </a:spcAft>
              <a:buNone/>
              <a:defRPr sz="18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Separar comparacoes por mesmas epocas, mesmos exemplos e mesmo custo observado.</a:t>
            </a:r>
          </a:p>
          <a:p xmlns:a="http://schemas.openxmlformats.org/drawingml/2006/main">
            <a:pPr marL="24" indent="-14" algn="l">
              <a:lnSpc>
                <a:spcPct val="100000"/>
              </a:lnSpc>
              <a:spcAft>
                <a:spcPts val="12"/>
              </a:spcAft>
              <a:buNone/>
              <a:defRPr sz="18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Validar em Split-CIFAR-10/100 e arquivar configuracao, matrizes, ambiente e hash do commit.</a:t>
            </a:r>
          </a:p>
        </p:txBody>
      </p:sp>
      <p:sp>
        <p:nvSpPr>
          <p:cNvPr id="12" name="footer-16">
            <a:extLst xmlns:a="http://schemas.openxmlformats.org/drawingml/2006/main">
              <a:ext uri="{FF2B5EF4-FFF2-40B4-BE49-F238E27FC236}">
                <a16:creationId xmlns:a16="http://schemas.microsoft.com/office/drawing/2014/main" id="{334A8F04-08F8-4366-9C41-0C12627B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Resultados preliminares  |  n = 10 seeds</a:t>
            </a:r>
          </a:p>
        </p:txBody>
      </p:sp>
      <p:sp>
        <p:nvSpPr>
          <p:cNvPr id="13" name="page-16">
            <a:extLst xmlns:a="http://schemas.openxmlformats.org/drawingml/2006/main">
              <a:ext uri="{FF2B5EF4-FFF2-40B4-BE49-F238E27FC236}">
                <a16:creationId xmlns:a16="http://schemas.microsoft.com/office/drawing/2014/main" id="{D9DB6F85-F2B5-4FD9-95E7-8DBD0642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00756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">
            <a:extLst xmlns:a="http://schemas.openxmlformats.org/drawingml/2006/main">
              <a:ext uri="{FF2B5EF4-FFF2-40B4-BE49-F238E27FC236}">
                <a16:creationId xmlns:a16="http://schemas.microsoft.com/office/drawing/2014/main" id="{97DA9909-1E6D-4A4D-A2DF-A6383372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CATALOGO DOS 31 METODOS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04EB351-6AE4-472D-B75D-7AD4A4F7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Controles e nucleo do SlowHeat</a:t>
            </a:r>
          </a:p>
        </p:txBody>
      </p:sp>
      <p:sp>
        <p:nvSpPr>
          <p:cNvPr id="3" name="rule-42-125">
            <a:extLst xmlns:a="http://schemas.openxmlformats.org/drawingml/2006/main">
              <a:ext uri="{FF2B5EF4-FFF2-40B4-BE49-F238E27FC236}">
                <a16:creationId xmlns:a16="http://schemas.microsoft.com/office/drawing/2014/main" id="{6DA85855-1009-40F4-AFE5-67F112C5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ule-620-145">
            <a:extLst xmlns:a="http://schemas.openxmlformats.org/drawingml/2006/main">
              <a:ext uri="{FF2B5EF4-FFF2-40B4-BE49-F238E27FC236}">
                <a16:creationId xmlns:a16="http://schemas.microsoft.com/office/drawing/2014/main" id="{1822A62B-705F-4E8B-B67C-F3FDEBD8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190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hod-vanilla">
            <a:extLst xmlns:a="http://schemas.openxmlformats.org/drawingml/2006/main">
              <a:ext uri="{FF2B5EF4-FFF2-40B4-BE49-F238E27FC236}">
                <a16:creationId xmlns:a16="http://schemas.microsoft.com/office/drawing/2014/main" id="{35EDB34C-F8D6-4750-8CFE-BC1759AC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vanilla</a:t>
            </a:r>
          </a:p>
        </p:txBody>
      </p:sp>
      <p:sp>
        <p:nvSpPr>
          <p:cNvPr id="6" name="desc-vanilla">
            <a:extLst xmlns:a="http://schemas.openxmlformats.org/drawingml/2006/main">
              <a:ext uri="{FF2B5EF4-FFF2-40B4-BE49-F238E27FC236}">
                <a16:creationId xmlns:a16="http://schemas.microsoft.com/office/drawing/2014/main" id="{39C7B1CD-2BD4-4080-8008-FCC9B3D3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3832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1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Fine-tuning sequencial com AdamW; controle sem mecanismo de continual learning.</a:t>
            </a:r>
          </a:p>
        </p:txBody>
      </p:sp>
      <p:sp>
        <p:nvSpPr>
          <p:cNvPr id="7" name="ref-vanilla">
            <a:extLst xmlns:a="http://schemas.openxmlformats.org/drawingml/2006/main">
              <a:ext uri="{FF2B5EF4-FFF2-40B4-BE49-F238E27FC236}">
                <a16:creationId xmlns:a16="http://schemas.microsoft.com/office/drawing/2014/main" id="{58E8083F-64D4-4756-867D-CD53A845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1457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13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256bef79abc4450b"/>
              </a:rPr>
              <a:t>AdamW</a:t>
            </a:r>
          </a:p>
        </p:txBody>
      </p:sp>
      <p:sp>
        <p:nvSpPr>
          <p:cNvPr id="8" name="rule-42-271">
            <a:extLst xmlns:a="http://schemas.openxmlformats.org/drawingml/2006/main">
              <a:ext uri="{FF2B5EF4-FFF2-40B4-BE49-F238E27FC236}">
                <a16:creationId xmlns:a16="http://schemas.microsoft.com/office/drawing/2014/main" id="{85CB9367-0E7A-456F-B52D-5AFCCE02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81275"/>
            <a:ext cx="519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hod-slowheat">
            <a:extLst xmlns:a="http://schemas.openxmlformats.org/drawingml/2006/main">
              <a:ext uri="{FF2B5EF4-FFF2-40B4-BE49-F238E27FC236}">
                <a16:creationId xmlns:a16="http://schemas.microsoft.com/office/drawing/2014/main" id="{A087C66C-2CEA-4B33-AEDD-1C22ED07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slowheat</a:t>
            </a:r>
          </a:p>
        </p:txBody>
      </p:sp>
      <p:sp>
        <p:nvSpPr>
          <p:cNvPr id="10" name="desc-slowheat">
            <a:extLst xmlns:a="http://schemas.openxmlformats.org/drawingml/2006/main">
              <a:ext uri="{FF2B5EF4-FFF2-40B4-BE49-F238E27FC236}">
                <a16:creationId xmlns:a16="http://schemas.microsoft.com/office/drawing/2014/main" id="{8D173BC6-3A84-4979-8A1B-CC880DDC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7657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1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SlowHeat completo, β=30 e budget 0,25; protege tambem a saida por padrao.</a:t>
            </a:r>
          </a:p>
        </p:txBody>
      </p:sp>
      <p:sp>
        <p:nvSpPr>
          <p:cNvPr id="11" name="ref-slowheat">
            <a:extLst xmlns:a="http://schemas.openxmlformats.org/drawingml/2006/main">
              <a:ext uri="{FF2B5EF4-FFF2-40B4-BE49-F238E27FC236}">
                <a16:creationId xmlns:a16="http://schemas.microsoft.com/office/drawing/2014/main" id="{6A24A436-FFD3-42FA-99C3-6E465C93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5282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13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e626d463bb9c49ef"/>
              </a:rPr>
              <a:t>Contexto Taylor (metodo local)</a:t>
            </a:r>
          </a:p>
        </p:txBody>
      </p:sp>
      <p:sp>
        <p:nvSpPr>
          <p:cNvPr id="12" name="rule-42-401">
            <a:extLst xmlns:a="http://schemas.openxmlformats.org/drawingml/2006/main">
              <a:ext uri="{FF2B5EF4-FFF2-40B4-BE49-F238E27FC236}">
                <a16:creationId xmlns:a16="http://schemas.microsoft.com/office/drawing/2014/main" id="{5C63BF43-BFA6-4740-B33B-65510709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9525"/>
            <a:ext cx="519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hod-slowheat_beta_10">
            <a:extLst xmlns:a="http://schemas.openxmlformats.org/drawingml/2006/main">
              <a:ext uri="{FF2B5EF4-FFF2-40B4-BE49-F238E27FC236}">
                <a16:creationId xmlns:a16="http://schemas.microsoft.com/office/drawing/2014/main" id="{1C850262-5E92-40E5-917C-C8FF28DA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slowheat_beta_10</a:t>
            </a:r>
          </a:p>
        </p:txBody>
      </p:sp>
      <p:sp>
        <p:nvSpPr>
          <p:cNvPr id="14" name="desc-slowheat_beta_10">
            <a:extLst xmlns:a="http://schemas.openxmlformats.org/drawingml/2006/main">
              <a:ext uri="{FF2B5EF4-FFF2-40B4-BE49-F238E27FC236}">
                <a16:creationId xmlns:a16="http://schemas.microsoft.com/office/drawing/2014/main" id="{8BED4DA8-C403-40A9-A806-83ED348F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1482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0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Mesma regra, protecao suave mais fraca: m = 1/(1+10·heat).</a:t>
            </a:r>
          </a:p>
        </p:txBody>
      </p:sp>
      <p:sp>
        <p:nvSpPr>
          <p:cNvPr id="15" name="ref-slowheat_beta_10">
            <a:extLst xmlns:a="http://schemas.openxmlformats.org/drawingml/2006/main">
              <a:ext uri="{FF2B5EF4-FFF2-40B4-BE49-F238E27FC236}">
                <a16:creationId xmlns:a16="http://schemas.microsoft.com/office/drawing/2014/main" id="{21BD1B9E-E262-456D-8132-D63D7314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9107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13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396c6f04e60d421b"/>
              </a:rPr>
              <a:t>Contexto Taylor (metodo local)</a:t>
            </a:r>
          </a:p>
        </p:txBody>
      </p:sp>
      <p:sp>
        <p:nvSpPr>
          <p:cNvPr id="16" name="rule-42-531">
            <a:extLst xmlns:a="http://schemas.openxmlformats.org/drawingml/2006/main">
              <a:ext uri="{FF2B5EF4-FFF2-40B4-BE49-F238E27FC236}">
                <a16:creationId xmlns:a16="http://schemas.microsoft.com/office/drawing/2014/main" id="{16AAE86C-D26F-40C7-83A8-F8FAA265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57775"/>
            <a:ext cx="519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ethod-slowheat_beta_30">
            <a:extLst xmlns:a="http://schemas.openxmlformats.org/drawingml/2006/main">
              <a:ext uri="{FF2B5EF4-FFF2-40B4-BE49-F238E27FC236}">
                <a16:creationId xmlns:a16="http://schemas.microsoft.com/office/drawing/2014/main" id="{FAA1A822-E7E0-4762-A7F3-0B8CBC4A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slowheat_beta_30</a:t>
            </a:r>
          </a:p>
        </p:txBody>
      </p:sp>
      <p:sp>
        <p:nvSpPr>
          <p:cNvPr id="18" name="desc-slowheat_beta_30">
            <a:extLst xmlns:a="http://schemas.openxmlformats.org/drawingml/2006/main">
              <a:ext uri="{FF2B5EF4-FFF2-40B4-BE49-F238E27FC236}">
                <a16:creationId xmlns:a16="http://schemas.microsoft.com/office/drawing/2014/main" id="{F7CF43AC-F270-491B-8E4F-9E0A93A4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5307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1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Configuracao explicita equivalente ao SlowHeat padrao do runner.</a:t>
            </a:r>
          </a:p>
        </p:txBody>
      </p:sp>
      <p:sp>
        <p:nvSpPr>
          <p:cNvPr id="19" name="ref-slowheat_beta_30">
            <a:extLst xmlns:a="http://schemas.openxmlformats.org/drawingml/2006/main">
              <a:ext uri="{FF2B5EF4-FFF2-40B4-BE49-F238E27FC236}">
                <a16:creationId xmlns:a16="http://schemas.microsoft.com/office/drawing/2014/main" id="{BEFDB06B-79CE-4123-856D-854E1703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2932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13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2346abfd981b4edb"/>
              </a:rPr>
              <a:t>Contexto Taylor (metodo local)</a:t>
            </a:r>
          </a:p>
        </p:txBody>
      </p:sp>
      <p:sp>
        <p:nvSpPr>
          <p:cNvPr id="20" name="method-slowheat_beta_100">
            <a:extLst xmlns:a="http://schemas.openxmlformats.org/drawingml/2006/main">
              <a:ext uri="{FF2B5EF4-FFF2-40B4-BE49-F238E27FC236}">
                <a16:creationId xmlns:a16="http://schemas.microsoft.com/office/drawing/2014/main" id="{DC06BC6C-FBDD-43DB-9C6A-82B90B02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8112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slowheat_beta_100</a:t>
            </a:r>
          </a:p>
        </p:txBody>
      </p:sp>
      <p:sp>
        <p:nvSpPr>
          <p:cNvPr id="21" name="desc-slowheat_beta_100">
            <a:extLst xmlns:a="http://schemas.openxmlformats.org/drawingml/2006/main">
              <a:ext uri="{FF2B5EF4-FFF2-40B4-BE49-F238E27FC236}">
                <a16:creationId xmlns:a16="http://schemas.microsoft.com/office/drawing/2014/main" id="{D4A4176F-3100-4AB3-B54E-E0AB8D9E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3832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1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Protecao mais forte; privilegia estabilidade e reduz plasticidade efetiva.</a:t>
            </a:r>
          </a:p>
        </p:txBody>
      </p:sp>
      <p:sp>
        <p:nvSpPr>
          <p:cNvPr id="22" name="ref-slowheat_beta_100">
            <a:extLst xmlns:a="http://schemas.openxmlformats.org/drawingml/2006/main">
              <a:ext uri="{FF2B5EF4-FFF2-40B4-BE49-F238E27FC236}">
                <a16:creationId xmlns:a16="http://schemas.microsoft.com/office/drawing/2014/main" id="{AA6A2114-F327-4FCD-91A6-FCE8122C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1457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13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488a3763f1024e29"/>
              </a:rPr>
              <a:t>Contexto Taylor (metodo local)</a:t>
            </a:r>
          </a:p>
        </p:txBody>
      </p:sp>
      <p:sp>
        <p:nvSpPr>
          <p:cNvPr id="23" name="rule-655-271">
            <a:extLst xmlns:a="http://schemas.openxmlformats.org/drawingml/2006/main">
              <a:ext uri="{FF2B5EF4-FFF2-40B4-BE49-F238E27FC236}">
                <a16:creationId xmlns:a16="http://schemas.microsoft.com/office/drawing/2014/main" id="{327F18DE-2BF8-4114-BC50-0D1EF468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81275"/>
            <a:ext cx="519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method-slowheat_adaptive">
            <a:extLst xmlns:a="http://schemas.openxmlformats.org/drawingml/2006/main">
              <a:ext uri="{FF2B5EF4-FFF2-40B4-BE49-F238E27FC236}">
                <a16:creationId xmlns:a16="http://schemas.microsoft.com/office/drawing/2014/main" id="{15DC92AF-0CF8-4E71-96B3-43530307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1937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slowheat_adaptive</a:t>
            </a:r>
          </a:p>
        </p:txBody>
      </p:sp>
      <p:sp>
        <p:nvSpPr>
          <p:cNvPr id="25" name="desc-slowheat_adaptive">
            <a:extLst xmlns:a="http://schemas.openxmlformats.org/drawingml/2006/main">
              <a:ext uri="{FF2B5EF4-FFF2-40B4-BE49-F238E27FC236}">
                <a16:creationId xmlns:a16="http://schemas.microsoft.com/office/drawing/2014/main" id="{F8F5D735-FF13-4B44-B7EE-0CADEE48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7657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1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Atualiza o budget por sinal de aquisicao em validacao separada.</a:t>
            </a:r>
          </a:p>
        </p:txBody>
      </p:sp>
      <p:sp>
        <p:nvSpPr>
          <p:cNvPr id="26" name="ref-slowheat_adaptive">
            <a:extLst xmlns:a="http://schemas.openxmlformats.org/drawingml/2006/main">
              <a:ext uri="{FF2B5EF4-FFF2-40B4-BE49-F238E27FC236}">
                <a16:creationId xmlns:a16="http://schemas.microsoft.com/office/drawing/2014/main" id="{94063799-FEA1-4D34-B272-11263F7F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5282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13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70db6e82434b425c"/>
              </a:rPr>
              <a:t>Contexto Taylor (metodo local)</a:t>
            </a:r>
          </a:p>
        </p:txBody>
      </p:sp>
      <p:sp>
        <p:nvSpPr>
          <p:cNvPr id="27" name="rule-655-401">
            <a:extLst xmlns:a="http://schemas.openxmlformats.org/drawingml/2006/main">
              <a:ext uri="{FF2B5EF4-FFF2-40B4-BE49-F238E27FC236}">
                <a16:creationId xmlns:a16="http://schemas.microsoft.com/office/drawing/2014/main" id="{B50506E0-5599-4D51-80DE-B8ABC8D3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19525"/>
            <a:ext cx="519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ethod-slowheat_native_state">
            <a:extLst xmlns:a="http://schemas.openxmlformats.org/drawingml/2006/main">
              <a:ext uri="{FF2B5EF4-FFF2-40B4-BE49-F238E27FC236}">
                <a16:creationId xmlns:a16="http://schemas.microsoft.com/office/drawing/2014/main" id="{74D552DF-B588-4480-82DE-1D16A5F2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5762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slowheat_native_state</a:t>
            </a:r>
          </a:p>
        </p:txBody>
      </p:sp>
      <p:sp>
        <p:nvSpPr>
          <p:cNvPr id="29" name="desc-slowheat_native_state">
            <a:extLst xmlns:a="http://schemas.openxmlformats.org/drawingml/2006/main">
              <a:ext uri="{FF2B5EF4-FFF2-40B4-BE49-F238E27FC236}">
                <a16:creationId xmlns:a16="http://schemas.microsoft.com/office/drawing/2014/main" id="{32EA7BC5-2D7A-496A-9B53-EF436509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1482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1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Mascara parametros, mas deixa momentos do AdamW seguirem o step nativo.</a:t>
            </a:r>
          </a:p>
        </p:txBody>
      </p:sp>
      <p:sp>
        <p:nvSpPr>
          <p:cNvPr id="30" name="ref-slowheat_native_state">
            <a:extLst xmlns:a="http://schemas.openxmlformats.org/drawingml/2006/main">
              <a:ext uri="{FF2B5EF4-FFF2-40B4-BE49-F238E27FC236}">
                <a16:creationId xmlns:a16="http://schemas.microsoft.com/office/drawing/2014/main" id="{AA44FB36-EC2F-40B4-9BA9-6A458607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79107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13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a2442fc8b5ce490d"/>
              </a:rPr>
              <a:t>AdamW</a:t>
            </a:r>
          </a:p>
        </p:txBody>
      </p:sp>
      <p:sp>
        <p:nvSpPr>
          <p:cNvPr id="31" name="rule-655-531">
            <a:extLst xmlns:a="http://schemas.openxmlformats.org/drawingml/2006/main">
              <a:ext uri="{FF2B5EF4-FFF2-40B4-BE49-F238E27FC236}">
                <a16:creationId xmlns:a16="http://schemas.microsoft.com/office/drawing/2014/main" id="{FDB3D099-CCD4-47A1-91C2-1F37807F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57775"/>
            <a:ext cx="519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footer-17">
            <a:extLst xmlns:a="http://schemas.openxmlformats.org/drawingml/2006/main">
              <a:ext uri="{FF2B5EF4-FFF2-40B4-BE49-F238E27FC236}">
                <a16:creationId xmlns:a16="http://schemas.microsoft.com/office/drawing/2014/main" id="{566B6892-1021-40A7-AE67-3FE76A6C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Resultados preliminares  |  n = 10 seeds</a:t>
            </a:r>
          </a:p>
        </p:txBody>
      </p:sp>
      <p:sp>
        <p:nvSpPr>
          <p:cNvPr id="33" name="page-17">
            <a:extLst xmlns:a="http://schemas.openxmlformats.org/drawingml/2006/main">
              <a:ext uri="{FF2B5EF4-FFF2-40B4-BE49-F238E27FC236}">
                <a16:creationId xmlns:a16="http://schemas.microsoft.com/office/drawing/2014/main" id="{D43493D7-5BD0-4581-9482-6A52F2A9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6501099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ABF8F111-9741-4159-ABBB-128607E3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CATALOGO DOS 31 METODOS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EF7A028-7DAD-4D73-B96D-1C46C4D9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Ablacoes estruturais do SlowHeat</a:t>
            </a:r>
          </a:p>
        </p:txBody>
      </p:sp>
      <p:sp>
        <p:nvSpPr>
          <p:cNvPr id="3" name="rule-42-125">
            <a:extLst xmlns:a="http://schemas.openxmlformats.org/drawingml/2006/main">
              <a:ext uri="{FF2B5EF4-FFF2-40B4-BE49-F238E27FC236}">
                <a16:creationId xmlns:a16="http://schemas.microsoft.com/office/drawing/2014/main" id="{EDCE0BD0-9B8C-4B19-983C-A9A0C513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ule-620-145">
            <a:extLst xmlns:a="http://schemas.openxmlformats.org/drawingml/2006/main">
              <a:ext uri="{FF2B5EF4-FFF2-40B4-BE49-F238E27FC236}">
                <a16:creationId xmlns:a16="http://schemas.microsoft.com/office/drawing/2014/main" id="{44F9F6A8-DF33-4423-A916-18AC52A0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190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hod-slowheat_unidirectional">
            <a:extLst xmlns:a="http://schemas.openxmlformats.org/drawingml/2006/main">
              <a:ext uri="{FF2B5EF4-FFF2-40B4-BE49-F238E27FC236}">
                <a16:creationId xmlns:a16="http://schemas.microsoft.com/office/drawing/2014/main" id="{E5FFEC65-B511-4ED9-96CD-39F2052A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slowheat_unidirectional</a:t>
            </a:r>
          </a:p>
        </p:txBody>
      </p:sp>
      <p:sp>
        <p:nvSpPr>
          <p:cNvPr id="6" name="desc-slowheat_unidirectional">
            <a:extLst xmlns:a="http://schemas.openxmlformats.org/drawingml/2006/main">
              <a:ext uri="{FF2B5EF4-FFF2-40B4-BE49-F238E27FC236}">
                <a16:creationId xmlns:a16="http://schemas.microsoft.com/office/drawing/2014/main" id="{E0739C9D-FD68-4EDB-A235-2EB53225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38325"/>
            <a:ext cx="5191125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Remove a protecao fatorada downstream; protege apenas linhas de entrada.</a:t>
            </a:r>
          </a:p>
        </p:txBody>
      </p:sp>
      <p:sp>
        <p:nvSpPr>
          <p:cNvPr id="7" name="ref-slowheat_unidirectional">
            <a:extLst xmlns:a="http://schemas.openxmlformats.org/drawingml/2006/main">
              <a:ext uri="{FF2B5EF4-FFF2-40B4-BE49-F238E27FC236}">
                <a16:creationId xmlns:a16="http://schemas.microsoft.com/office/drawing/2014/main" id="{22EB7E6A-DEAB-424A-B61E-D352F33F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732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13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c3cf10079b5d4864"/>
              </a:rPr>
              <a:t>Contexto Taylor (metodo local)</a:t>
            </a:r>
          </a:p>
        </p:txBody>
      </p:sp>
      <p:sp>
        <p:nvSpPr>
          <p:cNvPr id="8" name="rule-42-314.33333333333337">
            <a:extLst xmlns:a="http://schemas.openxmlformats.org/drawingml/2006/main">
              <a:ext uri="{FF2B5EF4-FFF2-40B4-BE49-F238E27FC236}">
                <a16:creationId xmlns:a16="http://schemas.microsoft.com/office/drawing/2014/main" id="{7F381A75-6C38-4F86-8B73-AC922A00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4025"/>
            <a:ext cx="519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hod-slowheat_unbudgeted">
            <a:extLst xmlns:a="http://schemas.openxmlformats.org/drawingml/2006/main">
              <a:ext uri="{FF2B5EF4-FFF2-40B4-BE49-F238E27FC236}">
                <a16:creationId xmlns:a16="http://schemas.microsoft.com/office/drawing/2014/main" id="{A2BCCC86-4673-41E1-9742-E57C8B0D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3212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slowheat_unbudgeted</a:t>
            </a:r>
          </a:p>
        </p:txBody>
      </p:sp>
      <p:sp>
        <p:nvSpPr>
          <p:cNvPr id="10" name="desc-slowheat_unbudgeted">
            <a:extLst xmlns:a="http://schemas.openxmlformats.org/drawingml/2006/main">
              <a:ext uri="{FF2B5EF4-FFF2-40B4-BE49-F238E27FC236}">
                <a16:creationId xmlns:a16="http://schemas.microsoft.com/office/drawing/2014/main" id="{B20AD6BF-7022-4720-B680-A8C49C7F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9325"/>
            <a:ext cx="5191125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Remove a garantia de uma fracao minima de unidades totalmente plasticas.</a:t>
            </a:r>
          </a:p>
        </p:txBody>
      </p:sp>
      <p:sp>
        <p:nvSpPr>
          <p:cNvPr id="11" name="ref-slowheat_unbudgeted">
            <a:extLst xmlns:a="http://schemas.openxmlformats.org/drawingml/2006/main">
              <a:ext uri="{FF2B5EF4-FFF2-40B4-BE49-F238E27FC236}">
                <a16:creationId xmlns:a16="http://schemas.microsoft.com/office/drawing/2014/main" id="{0B6BC0B9-C6AA-48C0-B2AB-324B018A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7832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13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4a3a2e62833a4469"/>
              </a:rPr>
              <a:t>Contexto Taylor (metodo local)</a:t>
            </a:r>
          </a:p>
        </p:txBody>
      </p:sp>
      <p:sp>
        <p:nvSpPr>
          <p:cNvPr id="12" name="rule-42-487.66666666666674">
            <a:extLst xmlns:a="http://schemas.openxmlformats.org/drawingml/2006/main">
              <a:ext uri="{FF2B5EF4-FFF2-40B4-BE49-F238E27FC236}">
                <a16:creationId xmlns:a16="http://schemas.microsoft.com/office/drawing/2014/main" id="{56471DD8-3321-4B8A-91DA-C0639C60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5025"/>
            <a:ext cx="519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hod-slowheat_none">
            <a:extLst xmlns:a="http://schemas.openxmlformats.org/drawingml/2006/main">
              <a:ext uri="{FF2B5EF4-FFF2-40B4-BE49-F238E27FC236}">
                <a16:creationId xmlns:a16="http://schemas.microsoft.com/office/drawing/2014/main" id="{1731FE65-9A1C-474F-8FD5-C900CE1C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312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slowheat_none</a:t>
            </a:r>
          </a:p>
        </p:txBody>
      </p:sp>
      <p:sp>
        <p:nvSpPr>
          <p:cNvPr id="14" name="desc-slowheat_none">
            <a:extLst xmlns:a="http://schemas.openxmlformats.org/drawingml/2006/main">
              <a:ext uri="{FF2B5EF4-FFF2-40B4-BE49-F238E27FC236}">
                <a16:creationId xmlns:a16="http://schemas.microsoft.com/office/drawing/2014/main" id="{D73AC71F-2EDD-4134-99F0-7CF3FA41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0325"/>
            <a:ext cx="5191125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Registra o mecanismo, mas nao consolida importancia; controle de wiring.</a:t>
            </a:r>
          </a:p>
        </p:txBody>
      </p:sp>
      <p:sp>
        <p:nvSpPr>
          <p:cNvPr id="15" name="ref-slowheat_none">
            <a:extLst xmlns:a="http://schemas.openxmlformats.org/drawingml/2006/main">
              <a:ext uri="{FF2B5EF4-FFF2-40B4-BE49-F238E27FC236}">
                <a16:creationId xmlns:a16="http://schemas.microsoft.com/office/drawing/2014/main" id="{42E7484C-D567-404C-8138-E8020BFE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2932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13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4f6fbd6040b24150"/>
              </a:rPr>
              <a:t>AdamW</a:t>
            </a:r>
          </a:p>
        </p:txBody>
      </p:sp>
      <p:sp>
        <p:nvSpPr>
          <p:cNvPr id="16" name="method-hard_freeze">
            <a:extLst xmlns:a="http://schemas.openxmlformats.org/drawingml/2006/main">
              <a:ext uri="{FF2B5EF4-FFF2-40B4-BE49-F238E27FC236}">
                <a16:creationId xmlns:a16="http://schemas.microsoft.com/office/drawing/2014/main" id="{EA7CDF03-F8A5-451C-AE2E-C2FDB975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8112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hard_freeze</a:t>
            </a:r>
          </a:p>
        </p:txBody>
      </p:sp>
      <p:sp>
        <p:nvSpPr>
          <p:cNvPr id="17" name="desc-hard_freeze">
            <a:extLst xmlns:a="http://schemas.openxmlformats.org/drawingml/2006/main">
              <a:ext uri="{FF2B5EF4-FFF2-40B4-BE49-F238E27FC236}">
                <a16:creationId xmlns:a16="http://schemas.microsoft.com/office/drawing/2014/main" id="{68F72F53-7177-4904-9F68-00255013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38325"/>
            <a:ext cx="5191125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Converte a protecao em mascara binaria: unidades consolidadas ficam congeladas.</a:t>
            </a:r>
          </a:p>
        </p:txBody>
      </p:sp>
      <p:sp>
        <p:nvSpPr>
          <p:cNvPr id="18" name="ref-hard_freeze">
            <a:extLst xmlns:a="http://schemas.openxmlformats.org/drawingml/2006/main">
              <a:ext uri="{FF2B5EF4-FFF2-40B4-BE49-F238E27FC236}">
                <a16:creationId xmlns:a16="http://schemas.microsoft.com/office/drawing/2014/main" id="{494EB874-6DC7-494A-AE76-68A7BCD0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72732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13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f141c3eefdb542da"/>
              </a:rPr>
              <a:t>Controle local · contexto EWC</a:t>
            </a:r>
          </a:p>
        </p:txBody>
      </p:sp>
      <p:sp>
        <p:nvSpPr>
          <p:cNvPr id="19" name="rule-655-314.33333333333337">
            <a:extLst xmlns:a="http://schemas.openxmlformats.org/drawingml/2006/main">
              <a:ext uri="{FF2B5EF4-FFF2-40B4-BE49-F238E27FC236}">
                <a16:creationId xmlns:a16="http://schemas.microsoft.com/office/drawing/2014/main" id="{785F850F-7C08-47A6-B56D-6141A560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94025"/>
            <a:ext cx="519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ethod-slowheat_hidden_beta_30_budget_0.25">
            <a:extLst xmlns:a="http://schemas.openxmlformats.org/drawingml/2006/main">
              <a:ext uri="{FF2B5EF4-FFF2-40B4-BE49-F238E27FC236}">
                <a16:creationId xmlns:a16="http://schemas.microsoft.com/office/drawing/2014/main" id="{A203E8D6-ED8D-42E6-9032-D233A40F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3212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slowheat_hidden_beta_30_budget_0.25</a:t>
            </a:r>
          </a:p>
        </p:txBody>
      </p:sp>
      <p:sp>
        <p:nvSpPr>
          <p:cNvPr id="21" name="desc-slowheat_hidden_beta_30_budget_0.25">
            <a:extLst xmlns:a="http://schemas.openxmlformats.org/drawingml/2006/main">
              <a:ext uri="{FF2B5EF4-FFF2-40B4-BE49-F238E27FC236}">
                <a16:creationId xmlns:a16="http://schemas.microsoft.com/office/drawing/2014/main" id="{33D29815-6FC6-41B8-8718-926DBFC6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89325"/>
            <a:ext cx="5191125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SlowHeat apenas nas camadas ocultas, sem replay; cabeca livre.</a:t>
            </a:r>
          </a:p>
        </p:txBody>
      </p:sp>
      <p:sp>
        <p:nvSpPr>
          <p:cNvPr id="22" name="ref-slowheat_hidden_beta_30_budget_0.25">
            <a:extLst xmlns:a="http://schemas.openxmlformats.org/drawingml/2006/main">
              <a:ext uri="{FF2B5EF4-FFF2-40B4-BE49-F238E27FC236}">
                <a16:creationId xmlns:a16="http://schemas.microsoft.com/office/drawing/2014/main" id="{7E3B8FBF-05A6-491E-909D-300DAFF5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7832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13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5ccaa1d3af7145f4"/>
              </a:rPr>
              <a:t>Contexto Taylor (metodo local)</a:t>
            </a:r>
          </a:p>
        </p:txBody>
      </p:sp>
      <p:sp>
        <p:nvSpPr>
          <p:cNvPr id="23" name="rule-655-487.66666666666674">
            <a:extLst xmlns:a="http://schemas.openxmlformats.org/drawingml/2006/main">
              <a:ext uri="{FF2B5EF4-FFF2-40B4-BE49-F238E27FC236}">
                <a16:creationId xmlns:a16="http://schemas.microsoft.com/office/drawing/2014/main" id="{DE3E12EF-831A-4E85-A831-CB76453B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45025"/>
            <a:ext cx="519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method-slowheat_replay_hidden_adaptive&#10;_beta_30_budget_0.25">
            <a:extLst xmlns:a="http://schemas.openxmlformats.org/drawingml/2006/main">
              <a:ext uri="{FF2B5EF4-FFF2-40B4-BE49-F238E27FC236}">
                <a16:creationId xmlns:a16="http://schemas.microsoft.com/office/drawing/2014/main" id="{2A23CA75-70D1-42B9-9B0C-7C50CF67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8312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1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slowheat_replay_hidden_adaptive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_beta_30_budget_0.25</a:t>
            </a:r>
          </a:p>
        </p:txBody>
      </p:sp>
      <p:sp>
        <p:nvSpPr>
          <p:cNvPr id="25" name="desc-slowheat_replay_hidden_adaptive&#10;_beta_30_budget_0.25">
            <a:extLst xmlns:a="http://schemas.openxmlformats.org/drawingml/2006/main">
              <a:ext uri="{FF2B5EF4-FFF2-40B4-BE49-F238E27FC236}">
                <a16:creationId xmlns:a16="http://schemas.microsoft.com/office/drawing/2014/main" id="{2E5D90E5-B66B-4C8C-98B8-542D84DE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140325"/>
            <a:ext cx="5191125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Replay + hidden-only + budget adaptado por validacao.</a:t>
            </a:r>
          </a:p>
        </p:txBody>
      </p:sp>
      <p:sp>
        <p:nvSpPr>
          <p:cNvPr id="26" name="ref-slowheat_replay_hidden_adaptive&#10;_beta_30_budget_0.25">
            <a:extLst xmlns:a="http://schemas.openxmlformats.org/drawingml/2006/main">
              <a:ext uri="{FF2B5EF4-FFF2-40B4-BE49-F238E27FC236}">
                <a16:creationId xmlns:a16="http://schemas.microsoft.com/office/drawing/2014/main" id="{E2FA6C9D-845C-4AAD-93AC-F99C5AA5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02932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13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962f791553434aba"/>
              </a:rPr>
              <a:t>SlowHeat local + Replay</a:t>
            </a:r>
          </a:p>
        </p:txBody>
      </p:sp>
      <p:sp>
        <p:nvSpPr>
          <p:cNvPr id="27" name="footer-18">
            <a:extLst xmlns:a="http://schemas.openxmlformats.org/drawingml/2006/main">
              <a:ext uri="{FF2B5EF4-FFF2-40B4-BE49-F238E27FC236}">
                <a16:creationId xmlns:a16="http://schemas.microsoft.com/office/drawing/2014/main" id="{631E4581-F5A9-493B-9D4F-0815F1A1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Resultados preliminares  |  n = 10 seeds</a:t>
            </a:r>
          </a:p>
        </p:txBody>
      </p:sp>
      <p:sp>
        <p:nvSpPr>
          <p:cNvPr id="28" name="page-18">
            <a:extLst xmlns:a="http://schemas.openxmlformats.org/drawingml/2006/main">
              <a:ext uri="{FF2B5EF4-FFF2-40B4-BE49-F238E27FC236}">
                <a16:creationId xmlns:a16="http://schemas.microsoft.com/office/drawing/2014/main" id="{C0DC88AB-F667-47FE-BDBD-4D9BE285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8485532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DEDE14F1-300C-4FED-88BF-10F0BE95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CATALOGO DOS 31 METODOS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ADD00E7-5CA0-45C6-8D93-2646E5AF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Memoria, logits, restricoes e hibridos</a:t>
            </a:r>
          </a:p>
        </p:txBody>
      </p:sp>
      <p:sp>
        <p:nvSpPr>
          <p:cNvPr id="3" name="rule-42-125">
            <a:extLst xmlns:a="http://schemas.openxmlformats.org/drawingml/2006/main">
              <a:ext uri="{FF2B5EF4-FFF2-40B4-BE49-F238E27FC236}">
                <a16:creationId xmlns:a16="http://schemas.microsoft.com/office/drawing/2014/main" id="{0C68FE23-25E1-4938-8377-11F73186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ule-620-145">
            <a:extLst xmlns:a="http://schemas.openxmlformats.org/drawingml/2006/main">
              <a:ext uri="{FF2B5EF4-FFF2-40B4-BE49-F238E27FC236}">
                <a16:creationId xmlns:a16="http://schemas.microsoft.com/office/drawing/2014/main" id="{BAAC85BF-84A0-47E1-9494-3513C8B2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190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hod-replay">
            <a:extLst xmlns:a="http://schemas.openxmlformats.org/drawingml/2006/main">
              <a:ext uri="{FF2B5EF4-FFF2-40B4-BE49-F238E27FC236}">
                <a16:creationId xmlns:a16="http://schemas.microsoft.com/office/drawing/2014/main" id="{043D1EF7-F06A-4E16-A5DA-47FE6E11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replay</a:t>
            </a:r>
          </a:p>
        </p:txBody>
      </p:sp>
      <p:sp>
        <p:nvSpPr>
          <p:cNvPr id="6" name="desc-replay">
            <a:extLst xmlns:a="http://schemas.openxmlformats.org/drawingml/2006/main">
              <a:ext uri="{FF2B5EF4-FFF2-40B4-BE49-F238E27FC236}">
                <a16:creationId xmlns:a16="http://schemas.microsoft.com/office/drawing/2014/main" id="{0DF11544-AEC3-4A81-85BC-8EA65D41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38325"/>
            <a:ext cx="5191125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Mistura minibatches atuais e amostras de uma memoria episodica pequena.</a:t>
            </a:r>
          </a:p>
        </p:txBody>
      </p:sp>
      <p:sp>
        <p:nvSpPr>
          <p:cNvPr id="7" name="ref-replay">
            <a:extLst xmlns:a="http://schemas.openxmlformats.org/drawingml/2006/main">
              <a:ext uri="{FF2B5EF4-FFF2-40B4-BE49-F238E27FC236}">
                <a16:creationId xmlns:a16="http://schemas.microsoft.com/office/drawing/2014/main" id="{DCC834E3-4307-41DE-9506-A2F535C2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732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13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68d15f0dcb274337"/>
              </a:rPr>
              <a:t>Tiny Episodic Memories</a:t>
            </a:r>
          </a:p>
        </p:txBody>
      </p:sp>
      <p:sp>
        <p:nvSpPr>
          <p:cNvPr id="8" name="rule-42-314.33333333333337">
            <a:extLst xmlns:a="http://schemas.openxmlformats.org/drawingml/2006/main">
              <a:ext uri="{FF2B5EF4-FFF2-40B4-BE49-F238E27FC236}">
                <a16:creationId xmlns:a16="http://schemas.microsoft.com/office/drawing/2014/main" id="{1B0EA19D-BB0A-4AB3-AD1C-95D92D1C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4025"/>
            <a:ext cx="519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hod-distillation">
            <a:extLst xmlns:a="http://schemas.openxmlformats.org/drawingml/2006/main">
              <a:ext uri="{FF2B5EF4-FFF2-40B4-BE49-F238E27FC236}">
                <a16:creationId xmlns:a16="http://schemas.microsoft.com/office/drawing/2014/main" id="{AC666910-8D39-4F58-A356-4C8F0818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3212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distillation</a:t>
            </a:r>
          </a:p>
        </p:txBody>
      </p:sp>
      <p:sp>
        <p:nvSpPr>
          <p:cNvPr id="10" name="desc-distillation">
            <a:extLst xmlns:a="http://schemas.openxmlformats.org/drawingml/2006/main">
              <a:ext uri="{FF2B5EF4-FFF2-40B4-BE49-F238E27FC236}">
                <a16:creationId xmlns:a16="http://schemas.microsoft.com/office/drawing/2014/main" id="{29A26D2C-CDB6-4A60-A72B-89B982C8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9325"/>
            <a:ext cx="5191125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Professor anterior preserva logits antigos, sem guardar imagens antigas.</a:t>
            </a:r>
          </a:p>
        </p:txBody>
      </p:sp>
      <p:sp>
        <p:nvSpPr>
          <p:cNvPr id="11" name="ref-distillation">
            <a:extLst xmlns:a="http://schemas.openxmlformats.org/drawingml/2006/main">
              <a:ext uri="{FF2B5EF4-FFF2-40B4-BE49-F238E27FC236}">
                <a16:creationId xmlns:a16="http://schemas.microsoft.com/office/drawing/2014/main" id="{0EB2580F-AA72-4328-AD14-9DA3D0AB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7832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13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ae676c885cf0425f"/>
              </a:rPr>
              <a:t>Knowledge Distillation</a:t>
            </a:r>
          </a:p>
        </p:txBody>
      </p:sp>
      <p:sp>
        <p:nvSpPr>
          <p:cNvPr id="12" name="rule-42-487.66666666666674">
            <a:extLst xmlns:a="http://schemas.openxmlformats.org/drawingml/2006/main">
              <a:ext uri="{FF2B5EF4-FFF2-40B4-BE49-F238E27FC236}">
                <a16:creationId xmlns:a16="http://schemas.microsoft.com/office/drawing/2014/main" id="{2541AA51-22B3-404F-964A-DCFAAA3E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5025"/>
            <a:ext cx="519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hod-slowheat_replay">
            <a:extLst xmlns:a="http://schemas.openxmlformats.org/drawingml/2006/main">
              <a:ext uri="{FF2B5EF4-FFF2-40B4-BE49-F238E27FC236}">
                <a16:creationId xmlns:a16="http://schemas.microsoft.com/office/drawing/2014/main" id="{776834CD-615F-4474-B41D-B92D28E2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312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slowheat_replay</a:t>
            </a:r>
          </a:p>
        </p:txBody>
      </p:sp>
      <p:sp>
        <p:nvSpPr>
          <p:cNvPr id="14" name="desc-slowheat_replay">
            <a:extLst xmlns:a="http://schemas.openxmlformats.org/drawingml/2006/main">
              <a:ext uri="{FF2B5EF4-FFF2-40B4-BE49-F238E27FC236}">
                <a16:creationId xmlns:a16="http://schemas.microsoft.com/office/drawing/2014/main" id="{1705EB7A-FD85-4AD3-B8E9-A6E6BE28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0325"/>
            <a:ext cx="5191125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Combina replay com SlowHeat completo, incluindo protecao da cabeca.</a:t>
            </a:r>
          </a:p>
        </p:txBody>
      </p:sp>
      <p:sp>
        <p:nvSpPr>
          <p:cNvPr id="15" name="ref-slowheat_replay">
            <a:extLst xmlns:a="http://schemas.openxmlformats.org/drawingml/2006/main">
              <a:ext uri="{FF2B5EF4-FFF2-40B4-BE49-F238E27FC236}">
                <a16:creationId xmlns:a16="http://schemas.microsoft.com/office/drawing/2014/main" id="{B9FD54EE-F2B3-46EB-8A09-FCAE4370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2932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13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b3d96a5813cf4ac3"/>
              </a:rPr>
              <a:t>SlowHeat local + Replay</a:t>
            </a:r>
          </a:p>
        </p:txBody>
      </p:sp>
      <p:sp>
        <p:nvSpPr>
          <p:cNvPr id="16" name="method-slowheat_distillation">
            <a:extLst xmlns:a="http://schemas.openxmlformats.org/drawingml/2006/main">
              <a:ext uri="{FF2B5EF4-FFF2-40B4-BE49-F238E27FC236}">
                <a16:creationId xmlns:a16="http://schemas.microsoft.com/office/drawing/2014/main" id="{66B1EECF-F345-4EA5-88EB-DBCA5266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8112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slowheat_distillation</a:t>
            </a:r>
          </a:p>
        </p:txBody>
      </p:sp>
      <p:sp>
        <p:nvSpPr>
          <p:cNvPr id="17" name="desc-slowheat_distillation">
            <a:extLst xmlns:a="http://schemas.openxmlformats.org/drawingml/2006/main">
              <a:ext uri="{FF2B5EF4-FFF2-40B4-BE49-F238E27FC236}">
                <a16:creationId xmlns:a16="http://schemas.microsoft.com/office/drawing/2014/main" id="{1322C78D-B84D-41F3-BE3B-5BA121A3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38325"/>
            <a:ext cx="5191125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Combina protecao funcional com professor anterior e distillation.</a:t>
            </a:r>
          </a:p>
        </p:txBody>
      </p:sp>
      <p:sp>
        <p:nvSpPr>
          <p:cNvPr id="18" name="ref-slowheat_distillation">
            <a:extLst xmlns:a="http://schemas.openxmlformats.org/drawingml/2006/main">
              <a:ext uri="{FF2B5EF4-FFF2-40B4-BE49-F238E27FC236}">
                <a16:creationId xmlns:a16="http://schemas.microsoft.com/office/drawing/2014/main" id="{3E3775D3-AB3C-442B-B73A-AFD381AD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72732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13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b09d607fd71f41ed"/>
              </a:rPr>
              <a:t>SlowHeat local + Distillation</a:t>
            </a:r>
          </a:p>
        </p:txBody>
      </p:sp>
      <p:sp>
        <p:nvSpPr>
          <p:cNvPr id="19" name="rule-655-314.33333333333337">
            <a:extLst xmlns:a="http://schemas.openxmlformats.org/drawingml/2006/main">
              <a:ext uri="{FF2B5EF4-FFF2-40B4-BE49-F238E27FC236}">
                <a16:creationId xmlns:a16="http://schemas.microsoft.com/office/drawing/2014/main" id="{A39DF87F-FD26-48EB-8DA0-B7D271C4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94025"/>
            <a:ext cx="519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ethod-derpp">
            <a:extLst xmlns:a="http://schemas.openxmlformats.org/drawingml/2006/main">
              <a:ext uri="{FF2B5EF4-FFF2-40B4-BE49-F238E27FC236}">
                <a16:creationId xmlns:a16="http://schemas.microsoft.com/office/drawing/2014/main" id="{70663D3F-C50F-41B1-896E-C387B58F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3212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derpp</a:t>
            </a:r>
          </a:p>
        </p:txBody>
      </p:sp>
      <p:sp>
        <p:nvSpPr>
          <p:cNvPr id="21" name="desc-derpp">
            <a:extLst xmlns:a="http://schemas.openxmlformats.org/drawingml/2006/main">
              <a:ext uri="{FF2B5EF4-FFF2-40B4-BE49-F238E27FC236}">
                <a16:creationId xmlns:a16="http://schemas.microsoft.com/office/drawing/2014/main" id="{06A29A0C-F713-4B25-AE15-7019B032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89325"/>
            <a:ext cx="5191125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CE atual + MSE de logits armazenados + CE sobre exemplos de replay.</a:t>
            </a:r>
          </a:p>
        </p:txBody>
      </p:sp>
      <p:sp>
        <p:nvSpPr>
          <p:cNvPr id="22" name="ref-derpp">
            <a:extLst xmlns:a="http://schemas.openxmlformats.org/drawingml/2006/main">
              <a:ext uri="{FF2B5EF4-FFF2-40B4-BE49-F238E27FC236}">
                <a16:creationId xmlns:a16="http://schemas.microsoft.com/office/drawing/2014/main" id="{C09383CB-9371-4F1F-8CDE-5C73772C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7832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13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653302987e704632"/>
              </a:rPr>
              <a:t>DER++</a:t>
            </a:r>
          </a:p>
        </p:txBody>
      </p:sp>
      <p:sp>
        <p:nvSpPr>
          <p:cNvPr id="23" name="rule-655-487.66666666666674">
            <a:extLst xmlns:a="http://schemas.openxmlformats.org/drawingml/2006/main">
              <a:ext uri="{FF2B5EF4-FFF2-40B4-BE49-F238E27FC236}">
                <a16:creationId xmlns:a16="http://schemas.microsoft.com/office/drawing/2014/main" id="{66DAAB6C-AA90-44ED-9FF9-768C2C96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45025"/>
            <a:ext cx="519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method-slowheat_derpp_hidden_beta_30_budget_0.25">
            <a:extLst xmlns:a="http://schemas.openxmlformats.org/drawingml/2006/main">
              <a:ext uri="{FF2B5EF4-FFF2-40B4-BE49-F238E27FC236}">
                <a16:creationId xmlns:a16="http://schemas.microsoft.com/office/drawing/2014/main" id="{C81D03D4-B10E-457E-81C7-79960886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8312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slowheat_derpp_hidden_beta_30_budget_0.25</a:t>
            </a:r>
          </a:p>
        </p:txBody>
      </p:sp>
      <p:sp>
        <p:nvSpPr>
          <p:cNvPr id="25" name="desc-slowheat_derpp_hidden_beta_30_budget_0.25">
            <a:extLst xmlns:a="http://schemas.openxmlformats.org/drawingml/2006/main">
              <a:ext uri="{FF2B5EF4-FFF2-40B4-BE49-F238E27FC236}">
                <a16:creationId xmlns:a16="http://schemas.microsoft.com/office/drawing/2014/main" id="{A86EFB9A-D14F-41AD-8D48-4A47CF70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140325"/>
            <a:ext cx="5191125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DER++ + SlowHeat nas camadas ocultas; cabeca permanece plastica.</a:t>
            </a:r>
          </a:p>
        </p:txBody>
      </p:sp>
      <p:sp>
        <p:nvSpPr>
          <p:cNvPr id="26" name="ref-slowheat_derpp_hidden_beta_30_budget_0.25">
            <a:extLst xmlns:a="http://schemas.openxmlformats.org/drawingml/2006/main">
              <a:ext uri="{FF2B5EF4-FFF2-40B4-BE49-F238E27FC236}">
                <a16:creationId xmlns:a16="http://schemas.microsoft.com/office/drawing/2014/main" id="{8D91F599-023F-4FA4-9278-166E3EC4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02932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13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6532e10277044959"/>
              </a:rPr>
              <a:t>SlowHeat local + DER++</a:t>
            </a:r>
          </a:p>
        </p:txBody>
      </p:sp>
      <p:sp>
        <p:nvSpPr>
          <p:cNvPr id="27" name="footer-19">
            <a:extLst xmlns:a="http://schemas.openxmlformats.org/drawingml/2006/main">
              <a:ext uri="{FF2B5EF4-FFF2-40B4-BE49-F238E27FC236}">
                <a16:creationId xmlns:a16="http://schemas.microsoft.com/office/drawing/2014/main" id="{FBC8D8E7-B7B2-4B1C-B3F7-08BD71B4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Resultados preliminares  |  n = 10 seeds</a:t>
            </a:r>
          </a:p>
        </p:txBody>
      </p:sp>
      <p:sp>
        <p:nvSpPr>
          <p:cNvPr id="28" name="page-19">
            <a:extLst xmlns:a="http://schemas.openxmlformats.org/drawingml/2006/main">
              <a:ext uri="{FF2B5EF4-FFF2-40B4-BE49-F238E27FC236}">
                <a16:creationId xmlns:a16="http://schemas.microsoft.com/office/drawing/2014/main" id="{FB0F2FE4-9238-4FAE-B55C-A4E557BD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8949693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313E6C7C-BC30-4CF6-B25A-78AF9BE9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CATALOGO DOS 31 METODOS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CAF6894-58D7-42A7-B0BD-5131F52B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Restricoes, regularizacao e Replay balanceado</a:t>
            </a:r>
          </a:p>
        </p:txBody>
      </p:sp>
      <p:sp>
        <p:nvSpPr>
          <p:cNvPr id="3" name="rule-42-125">
            <a:extLst xmlns:a="http://schemas.openxmlformats.org/drawingml/2006/main">
              <a:ext uri="{FF2B5EF4-FFF2-40B4-BE49-F238E27FC236}">
                <a16:creationId xmlns:a16="http://schemas.microsoft.com/office/drawing/2014/main" id="{C5D35B73-4340-4D79-9005-16DF7433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ule-620-145">
            <a:extLst xmlns:a="http://schemas.openxmlformats.org/drawingml/2006/main">
              <a:ext uri="{FF2B5EF4-FFF2-40B4-BE49-F238E27FC236}">
                <a16:creationId xmlns:a16="http://schemas.microsoft.com/office/drawing/2014/main" id="{D2E74073-DEF3-48D5-BCFA-26832397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190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hod-er_ace">
            <a:extLst xmlns:a="http://schemas.openxmlformats.org/drawingml/2006/main">
              <a:ext uri="{FF2B5EF4-FFF2-40B4-BE49-F238E27FC236}">
                <a16:creationId xmlns:a16="http://schemas.microsoft.com/office/drawing/2014/main" id="{ECF4D015-135C-42E2-A150-F17CDFE9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er_ace</a:t>
            </a:r>
          </a:p>
        </p:txBody>
      </p:sp>
      <p:sp>
        <p:nvSpPr>
          <p:cNvPr id="6" name="desc-er_ace">
            <a:extLst xmlns:a="http://schemas.openxmlformats.org/drawingml/2006/main">
              <a:ext uri="{FF2B5EF4-FFF2-40B4-BE49-F238E27FC236}">
                <a16:creationId xmlns:a16="http://schemas.microsoft.com/office/drawing/2014/main" id="{8B6908E7-9E07-41F9-B4B7-2655C8A6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38325"/>
            <a:ext cx="5191125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Restringe classes na loss atual e usa replay sobre todas as classes vistas.</a:t>
            </a:r>
          </a:p>
        </p:txBody>
      </p:sp>
      <p:sp>
        <p:nvSpPr>
          <p:cNvPr id="7" name="ref-er_ace">
            <a:extLst xmlns:a="http://schemas.openxmlformats.org/drawingml/2006/main">
              <a:ext uri="{FF2B5EF4-FFF2-40B4-BE49-F238E27FC236}">
                <a16:creationId xmlns:a16="http://schemas.microsoft.com/office/drawing/2014/main" id="{A6DAB95F-AF0D-4EEB-B6C2-1C133E8A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732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13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7465b0245cd74ccb"/>
              </a:rPr>
              <a:t>ER-ACE</a:t>
            </a:r>
          </a:p>
        </p:txBody>
      </p:sp>
      <p:sp>
        <p:nvSpPr>
          <p:cNvPr id="8" name="rule-42-314.33333333333337">
            <a:extLst xmlns:a="http://schemas.openxmlformats.org/drawingml/2006/main">
              <a:ext uri="{FF2B5EF4-FFF2-40B4-BE49-F238E27FC236}">
                <a16:creationId xmlns:a16="http://schemas.microsoft.com/office/drawing/2014/main" id="{8BD27B98-C1FA-490D-AA15-6B74CFFC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4025"/>
            <a:ext cx="519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hod-agem">
            <a:extLst xmlns:a="http://schemas.openxmlformats.org/drawingml/2006/main">
              <a:ext uri="{FF2B5EF4-FFF2-40B4-BE49-F238E27FC236}">
                <a16:creationId xmlns:a16="http://schemas.microsoft.com/office/drawing/2014/main" id="{94FE7C9F-E70D-40E3-9072-1088A72D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3212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agem</a:t>
            </a:r>
          </a:p>
        </p:txBody>
      </p:sp>
      <p:sp>
        <p:nvSpPr>
          <p:cNvPr id="10" name="desc-agem">
            <a:extLst xmlns:a="http://schemas.openxmlformats.org/drawingml/2006/main">
              <a:ext uri="{FF2B5EF4-FFF2-40B4-BE49-F238E27FC236}">
                <a16:creationId xmlns:a16="http://schemas.microsoft.com/office/drawing/2014/main" id="{2737A09A-FB1C-49EA-91D1-5CC799D3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9325"/>
            <a:ext cx="5191125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Projeta o gradiente atual quando ele conflita com o gradiente da memoria.</a:t>
            </a:r>
          </a:p>
        </p:txBody>
      </p:sp>
      <p:sp>
        <p:nvSpPr>
          <p:cNvPr id="11" name="ref-agem">
            <a:extLst xmlns:a="http://schemas.openxmlformats.org/drawingml/2006/main">
              <a:ext uri="{FF2B5EF4-FFF2-40B4-BE49-F238E27FC236}">
                <a16:creationId xmlns:a16="http://schemas.microsoft.com/office/drawing/2014/main" id="{40BECAC5-0399-4AF6-9E51-8FA758E2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7832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13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303f1229be3f4546"/>
              </a:rPr>
              <a:t>A-GEM</a:t>
            </a:r>
          </a:p>
        </p:txBody>
      </p:sp>
      <p:sp>
        <p:nvSpPr>
          <p:cNvPr id="12" name="rule-42-487.66666666666674">
            <a:extLst xmlns:a="http://schemas.openxmlformats.org/drawingml/2006/main">
              <a:ext uri="{FF2B5EF4-FFF2-40B4-BE49-F238E27FC236}">
                <a16:creationId xmlns:a16="http://schemas.microsoft.com/office/drawing/2014/main" id="{C8952E14-88F0-4853-8C23-BD7EDF30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5025"/>
            <a:ext cx="519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hod-ewc">
            <a:extLst xmlns:a="http://schemas.openxmlformats.org/drawingml/2006/main">
              <a:ext uri="{FF2B5EF4-FFF2-40B4-BE49-F238E27FC236}">
                <a16:creationId xmlns:a16="http://schemas.microsoft.com/office/drawing/2014/main" id="{6F09E919-276C-4007-9580-E46B03C2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312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ewc</a:t>
            </a:r>
          </a:p>
        </p:txBody>
      </p:sp>
      <p:sp>
        <p:nvSpPr>
          <p:cNvPr id="14" name="desc-ewc">
            <a:extLst xmlns:a="http://schemas.openxmlformats.org/drawingml/2006/main">
              <a:ext uri="{FF2B5EF4-FFF2-40B4-BE49-F238E27FC236}">
                <a16:creationId xmlns:a16="http://schemas.microsoft.com/office/drawing/2014/main" id="{F5510A07-1A95-4045-876B-1FBDD41F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0325"/>
            <a:ext cx="5191125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Fisher diagonal online + penalidade quadratica sobre parametros consolidados.</a:t>
            </a:r>
          </a:p>
        </p:txBody>
      </p:sp>
      <p:sp>
        <p:nvSpPr>
          <p:cNvPr id="15" name="ref-ewc">
            <a:extLst xmlns:a="http://schemas.openxmlformats.org/drawingml/2006/main">
              <a:ext uri="{FF2B5EF4-FFF2-40B4-BE49-F238E27FC236}">
                <a16:creationId xmlns:a16="http://schemas.microsoft.com/office/drawing/2014/main" id="{7F7C629A-C69A-4C22-B997-2352B413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2932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13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647ac8b979f9486c"/>
              </a:rPr>
              <a:t>EWC</a:t>
            </a:r>
          </a:p>
        </p:txBody>
      </p:sp>
      <p:sp>
        <p:nvSpPr>
          <p:cNvPr id="16" name="method-si">
            <a:extLst xmlns:a="http://schemas.openxmlformats.org/drawingml/2006/main">
              <a:ext uri="{FF2B5EF4-FFF2-40B4-BE49-F238E27FC236}">
                <a16:creationId xmlns:a16="http://schemas.microsoft.com/office/drawing/2014/main" id="{CC28206C-4BA6-474D-AB3D-A3ED986E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8112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si</a:t>
            </a:r>
          </a:p>
        </p:txBody>
      </p:sp>
      <p:sp>
        <p:nvSpPr>
          <p:cNvPr id="17" name="desc-si">
            <a:extLst xmlns:a="http://schemas.openxmlformats.org/drawingml/2006/main">
              <a:ext uri="{FF2B5EF4-FFF2-40B4-BE49-F238E27FC236}">
                <a16:creationId xmlns:a16="http://schemas.microsoft.com/office/drawing/2014/main" id="{DDE4FE30-9A56-4D77-9035-54D7DDD8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38325"/>
            <a:ext cx="5191125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Importancia sinaptica acumulada ao longo da trajetoria de otimizacao.</a:t>
            </a:r>
          </a:p>
        </p:txBody>
      </p:sp>
      <p:sp>
        <p:nvSpPr>
          <p:cNvPr id="18" name="ref-si">
            <a:extLst xmlns:a="http://schemas.openxmlformats.org/drawingml/2006/main">
              <a:ext uri="{FF2B5EF4-FFF2-40B4-BE49-F238E27FC236}">
                <a16:creationId xmlns:a16="http://schemas.microsoft.com/office/drawing/2014/main" id="{34005D93-1D81-4746-9CFF-0A9C9148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72732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13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542c87e598ae49e9"/>
              </a:rPr>
              <a:t>Synaptic Intelligence</a:t>
            </a:r>
          </a:p>
        </p:txBody>
      </p:sp>
      <p:sp>
        <p:nvSpPr>
          <p:cNvPr id="19" name="rule-655-314.33333333333337">
            <a:extLst xmlns:a="http://schemas.openxmlformats.org/drawingml/2006/main">
              <a:ext uri="{FF2B5EF4-FFF2-40B4-BE49-F238E27FC236}">
                <a16:creationId xmlns:a16="http://schemas.microsoft.com/office/drawing/2014/main" id="{0BA782A0-D161-4B9E-8EEF-FE4D00CF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94025"/>
            <a:ext cx="519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ethod-lwf_calibrated">
            <a:extLst xmlns:a="http://schemas.openxmlformats.org/drawingml/2006/main">
              <a:ext uri="{FF2B5EF4-FFF2-40B4-BE49-F238E27FC236}">
                <a16:creationId xmlns:a16="http://schemas.microsoft.com/office/drawing/2014/main" id="{BF984D0C-45D8-4301-ACD0-53AB099B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3212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lwf_calibrated</a:t>
            </a:r>
          </a:p>
        </p:txBody>
      </p:sp>
      <p:sp>
        <p:nvSpPr>
          <p:cNvPr id="21" name="desc-lwf_calibrated">
            <a:extLst xmlns:a="http://schemas.openxmlformats.org/drawingml/2006/main">
              <a:ext uri="{FF2B5EF4-FFF2-40B4-BE49-F238E27FC236}">
                <a16:creationId xmlns:a16="http://schemas.microsoft.com/office/drawing/2014/main" id="{2340B144-5608-464A-BAA4-F246A59E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89325"/>
            <a:ext cx="5191125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LwF com pesos das losses definidos pela fracao de classes antigas e novas.</a:t>
            </a:r>
          </a:p>
        </p:txBody>
      </p:sp>
      <p:sp>
        <p:nvSpPr>
          <p:cNvPr id="22" name="ref-lwf_calibrated">
            <a:extLst xmlns:a="http://schemas.openxmlformats.org/drawingml/2006/main">
              <a:ext uri="{FF2B5EF4-FFF2-40B4-BE49-F238E27FC236}">
                <a16:creationId xmlns:a16="http://schemas.microsoft.com/office/drawing/2014/main" id="{95DFBD7F-06F2-46F4-82D4-841B14D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7832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13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7a608a2ab4e14deb"/>
              </a:rPr>
              <a:t>Learning without Forgetting</a:t>
            </a:r>
          </a:p>
        </p:txBody>
      </p:sp>
      <p:sp>
        <p:nvSpPr>
          <p:cNvPr id="23" name="rule-655-487.66666666666674">
            <a:extLst xmlns:a="http://schemas.openxmlformats.org/drawingml/2006/main">
              <a:ext uri="{FF2B5EF4-FFF2-40B4-BE49-F238E27FC236}">
                <a16:creationId xmlns:a16="http://schemas.microsoft.com/office/drawing/2014/main" id="{75BF87CE-B796-40F4-9B5C-B89DE72F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45025"/>
            <a:ext cx="519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method-replay_balanced">
            <a:extLst xmlns:a="http://schemas.openxmlformats.org/drawingml/2006/main">
              <a:ext uri="{FF2B5EF4-FFF2-40B4-BE49-F238E27FC236}">
                <a16:creationId xmlns:a16="http://schemas.microsoft.com/office/drawing/2014/main" id="{E05920D5-B432-47B6-9E7B-32CCB73F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8312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replay_balanced</a:t>
            </a:r>
          </a:p>
        </p:txBody>
      </p:sp>
      <p:sp>
        <p:nvSpPr>
          <p:cNvPr id="25" name="desc-replay_balanced">
            <a:extLst xmlns:a="http://schemas.openxmlformats.org/drawingml/2006/main">
              <a:ext uri="{FF2B5EF4-FFF2-40B4-BE49-F238E27FC236}">
                <a16:creationId xmlns:a16="http://schemas.microsoft.com/office/drawing/2014/main" id="{DCAE30F0-84BC-4008-B28C-0CF1CD9F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140325"/>
            <a:ext cx="5191125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Da peso 0,5 para loss atual e 0,5 para replay, independentemente do batch.</a:t>
            </a:r>
          </a:p>
        </p:txBody>
      </p:sp>
      <p:sp>
        <p:nvSpPr>
          <p:cNvPr id="26" name="ref-replay_balanced">
            <a:extLst xmlns:a="http://schemas.openxmlformats.org/drawingml/2006/main">
              <a:ext uri="{FF2B5EF4-FFF2-40B4-BE49-F238E27FC236}">
                <a16:creationId xmlns:a16="http://schemas.microsoft.com/office/drawing/2014/main" id="{DFAC4A9A-C0CF-4293-B1AC-51067087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02932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13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bff269995dbb4b4b"/>
              </a:rPr>
              <a:t>Variacao local de Replay</a:t>
            </a:r>
          </a:p>
        </p:txBody>
      </p:sp>
      <p:sp>
        <p:nvSpPr>
          <p:cNvPr id="27" name="footer-20">
            <a:extLst xmlns:a="http://schemas.openxmlformats.org/drawingml/2006/main">
              <a:ext uri="{FF2B5EF4-FFF2-40B4-BE49-F238E27FC236}">
                <a16:creationId xmlns:a16="http://schemas.microsoft.com/office/drawing/2014/main" id="{1E891277-F92B-402C-ADAC-B3703B69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Resultados preliminares  |  n = 10 seeds</a:t>
            </a:r>
          </a:p>
        </p:txBody>
      </p:sp>
      <p:sp>
        <p:nvSpPr>
          <p:cNvPr id="28" name="page-20">
            <a:extLst xmlns:a="http://schemas.openxmlformats.org/drawingml/2006/main">
              <a:ext uri="{FF2B5EF4-FFF2-40B4-BE49-F238E27FC236}">
                <a16:creationId xmlns:a16="http://schemas.microsoft.com/office/drawing/2014/main" id="{57A60706-DB17-40F1-A112-C6FD470C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056640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50F611F0-1323-4313-A24C-778568B8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CATALOGO DOS 31 METODOS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4DF302F-FCE7-48CC-B4AD-3215F0D7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Politicas de treino e hibridos finais</a:t>
            </a:r>
          </a:p>
        </p:txBody>
      </p:sp>
      <p:sp>
        <p:nvSpPr>
          <p:cNvPr id="3" name="rule-42-125">
            <a:extLst xmlns:a="http://schemas.openxmlformats.org/drawingml/2006/main">
              <a:ext uri="{FF2B5EF4-FFF2-40B4-BE49-F238E27FC236}">
                <a16:creationId xmlns:a16="http://schemas.microsoft.com/office/drawing/2014/main" id="{4572DF0F-DF9D-4BD0-A49B-96AE13B0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ule-620-145">
            <a:extLst xmlns:a="http://schemas.openxmlformats.org/drawingml/2006/main">
              <a:ext uri="{FF2B5EF4-FFF2-40B4-BE49-F238E27FC236}">
                <a16:creationId xmlns:a16="http://schemas.microsoft.com/office/drawing/2014/main" id="{817CD9A5-50E0-49A7-AC92-9D434BF9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190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hod-replay_more_epochs">
            <a:extLst xmlns:a="http://schemas.openxmlformats.org/drawingml/2006/main">
              <a:ext uri="{FF2B5EF4-FFF2-40B4-BE49-F238E27FC236}">
                <a16:creationId xmlns:a16="http://schemas.microsoft.com/office/drawing/2014/main" id="{1D6E7B6B-F154-4D41-A4BA-52445814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replay_more_epochs</a:t>
            </a:r>
          </a:p>
        </p:txBody>
      </p:sp>
      <p:sp>
        <p:nvSpPr>
          <p:cNvPr id="6" name="desc-replay_more_epochs">
            <a:extLst xmlns:a="http://schemas.openxmlformats.org/drawingml/2006/main">
              <a:ext uri="{FF2B5EF4-FFF2-40B4-BE49-F238E27FC236}">
                <a16:creationId xmlns:a16="http://schemas.microsoft.com/office/drawing/2014/main" id="{8508C97B-21E0-4E6D-B9E5-6E2D0EC2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38325"/>
            <a:ext cx="5191125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Executa 20 epocas por tarefa; controle de orcamento, nao novo algoritmo.</a:t>
            </a:r>
          </a:p>
        </p:txBody>
      </p:sp>
      <p:sp>
        <p:nvSpPr>
          <p:cNvPr id="7" name="ref-replay_more_epochs">
            <a:extLst xmlns:a="http://schemas.openxmlformats.org/drawingml/2006/main">
              <a:ext uri="{FF2B5EF4-FFF2-40B4-BE49-F238E27FC236}">
                <a16:creationId xmlns:a16="http://schemas.microsoft.com/office/drawing/2014/main" id="{9A7ED34D-A513-4D2E-9365-60CE91C2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732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13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c2ea76a141ac4595"/>
              </a:rPr>
              <a:t>Replay</a:t>
            </a:r>
          </a:p>
        </p:txBody>
      </p:sp>
      <p:sp>
        <p:nvSpPr>
          <p:cNvPr id="8" name="rule-42-314.33333333333337">
            <a:extLst xmlns:a="http://schemas.openxmlformats.org/drawingml/2006/main">
              <a:ext uri="{FF2B5EF4-FFF2-40B4-BE49-F238E27FC236}">
                <a16:creationId xmlns:a16="http://schemas.microsoft.com/office/drawing/2014/main" id="{5CD4598B-A2F5-41E3-8F30-9C96449D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4025"/>
            <a:ext cx="519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hod-replay_early_stopping">
            <a:extLst xmlns:a="http://schemas.openxmlformats.org/drawingml/2006/main">
              <a:ext uri="{FF2B5EF4-FFF2-40B4-BE49-F238E27FC236}">
                <a16:creationId xmlns:a16="http://schemas.microsoft.com/office/drawing/2014/main" id="{E5E910C1-2ABE-4FBD-B11C-ADA8E95F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3212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replay_early_stopping</a:t>
            </a:r>
          </a:p>
        </p:txBody>
      </p:sp>
      <p:sp>
        <p:nvSpPr>
          <p:cNvPr id="10" name="desc-replay_early_stopping">
            <a:extLst xmlns:a="http://schemas.openxmlformats.org/drawingml/2006/main">
              <a:ext uri="{FF2B5EF4-FFF2-40B4-BE49-F238E27FC236}">
                <a16:creationId xmlns:a16="http://schemas.microsoft.com/office/drawing/2014/main" id="{31C073E5-3900-4408-9144-44CBD8CD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9325"/>
            <a:ext cx="5191125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Ate 30 epocas, paciencia 3 e restauracao do melhor estado de validacao.</a:t>
            </a:r>
          </a:p>
        </p:txBody>
      </p:sp>
      <p:sp>
        <p:nvSpPr>
          <p:cNvPr id="11" name="ref-replay_early_stopping">
            <a:extLst xmlns:a="http://schemas.openxmlformats.org/drawingml/2006/main">
              <a:ext uri="{FF2B5EF4-FFF2-40B4-BE49-F238E27FC236}">
                <a16:creationId xmlns:a16="http://schemas.microsoft.com/office/drawing/2014/main" id="{1066876B-69E3-4C8E-9916-38699C26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7832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13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645079384435497e"/>
              </a:rPr>
              <a:t>Early stopping + Replay</a:t>
            </a:r>
          </a:p>
        </p:txBody>
      </p:sp>
      <p:sp>
        <p:nvSpPr>
          <p:cNvPr id="12" name="rule-42-487.66666666666674">
            <a:extLst xmlns:a="http://schemas.openxmlformats.org/drawingml/2006/main">
              <a:ext uri="{FF2B5EF4-FFF2-40B4-BE49-F238E27FC236}">
                <a16:creationId xmlns:a16="http://schemas.microsoft.com/office/drawing/2014/main" id="{B12B6224-44A1-4669-B642-225B2D43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5025"/>
            <a:ext cx="519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hod-replay_global_lr_reduction">
            <a:extLst xmlns:a="http://schemas.openxmlformats.org/drawingml/2006/main">
              <a:ext uri="{FF2B5EF4-FFF2-40B4-BE49-F238E27FC236}">
                <a16:creationId xmlns:a16="http://schemas.microsoft.com/office/drawing/2014/main" id="{AD04593E-4428-42DB-9F13-6FB886F3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312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replay_global_lr_reduction</a:t>
            </a:r>
          </a:p>
        </p:txBody>
      </p:sp>
      <p:sp>
        <p:nvSpPr>
          <p:cNvPr id="14" name="desc-replay_global_lr_reduction">
            <a:extLst xmlns:a="http://schemas.openxmlformats.org/drawingml/2006/main">
              <a:ext uri="{FF2B5EF4-FFF2-40B4-BE49-F238E27FC236}">
                <a16:creationId xmlns:a16="http://schemas.microsoft.com/office/drawing/2014/main" id="{2F53D7F8-9A1D-46CD-9AC8-820D434B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0325"/>
            <a:ext cx="5191125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Reduz globalmente a LR por 1/31; controle para comparar seletividade.</a:t>
            </a:r>
          </a:p>
        </p:txBody>
      </p:sp>
      <p:sp>
        <p:nvSpPr>
          <p:cNvPr id="15" name="ref-replay_global_lr_reduction">
            <a:extLst xmlns:a="http://schemas.openxmlformats.org/drawingml/2006/main">
              <a:ext uri="{FF2B5EF4-FFF2-40B4-BE49-F238E27FC236}">
                <a16:creationId xmlns:a16="http://schemas.microsoft.com/office/drawing/2014/main" id="{6FF4B719-DC41-46ED-884C-01C1DF0A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2932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13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9d230cd3e9a54c98"/>
              </a:rPr>
              <a:t>AdamW + Replay</a:t>
            </a:r>
          </a:p>
        </p:txBody>
      </p:sp>
      <p:sp>
        <p:nvSpPr>
          <p:cNvPr id="16" name="method-slowheat_replay_hidden_beta_30_budget_0.25">
            <a:extLst xmlns:a="http://schemas.openxmlformats.org/drawingml/2006/main">
              <a:ext uri="{FF2B5EF4-FFF2-40B4-BE49-F238E27FC236}">
                <a16:creationId xmlns:a16="http://schemas.microsoft.com/office/drawing/2014/main" id="{555E2F81-D131-4A1C-8CF2-253FD872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8112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slowheat_replay_hidden_beta_30_budget_0.25</a:t>
            </a:r>
          </a:p>
        </p:txBody>
      </p:sp>
      <p:sp>
        <p:nvSpPr>
          <p:cNvPr id="17" name="desc-slowheat_replay_hidden_beta_30_budget_0.25">
            <a:extLst xmlns:a="http://schemas.openxmlformats.org/drawingml/2006/main">
              <a:ext uri="{FF2B5EF4-FFF2-40B4-BE49-F238E27FC236}">
                <a16:creationId xmlns:a16="http://schemas.microsoft.com/office/drawing/2014/main" id="{71EAB567-B3E9-49DA-8810-09EF949A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38325"/>
            <a:ext cx="5191125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Replay + SlowHeat hidden-only, β=30 e pelo menos 25% de unidades livres.</a:t>
            </a:r>
          </a:p>
        </p:txBody>
      </p:sp>
      <p:sp>
        <p:nvSpPr>
          <p:cNvPr id="18" name="ref-slowheat_replay_hidden_beta_30_budget_0.25">
            <a:extLst xmlns:a="http://schemas.openxmlformats.org/drawingml/2006/main">
              <a:ext uri="{FF2B5EF4-FFF2-40B4-BE49-F238E27FC236}">
                <a16:creationId xmlns:a16="http://schemas.microsoft.com/office/drawing/2014/main" id="{3275D4C1-A283-4D77-877F-AD90C60E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72732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13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873ccf09c6064a9e"/>
              </a:rPr>
              <a:t>SlowHeat local + Replay</a:t>
            </a:r>
          </a:p>
        </p:txBody>
      </p:sp>
      <p:sp>
        <p:nvSpPr>
          <p:cNvPr id="19" name="rule-655-314.33333333333337">
            <a:extLst xmlns:a="http://schemas.openxmlformats.org/drawingml/2006/main">
              <a:ext uri="{FF2B5EF4-FFF2-40B4-BE49-F238E27FC236}">
                <a16:creationId xmlns:a16="http://schemas.microsoft.com/office/drawing/2014/main" id="{04B0B7CE-57CE-4B6C-8013-A7A806FE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94025"/>
            <a:ext cx="519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ethod-slowheat_replay_partial_output_beta_30_budget_0.25">
            <a:extLst xmlns:a="http://schemas.openxmlformats.org/drawingml/2006/main">
              <a:ext uri="{FF2B5EF4-FFF2-40B4-BE49-F238E27FC236}">
                <a16:creationId xmlns:a16="http://schemas.microsoft.com/office/drawing/2014/main" id="{EBEF2A09-E4DA-40C1-9E8D-363A24D8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3212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3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slowheat_replay_partial_output_beta_30_budget_0.25</a:t>
            </a:r>
          </a:p>
        </p:txBody>
      </p:sp>
      <p:sp>
        <p:nvSpPr>
          <p:cNvPr id="21" name="desc-slowheat_replay_partial_output_beta_30_budget_0.25">
            <a:extLst xmlns:a="http://schemas.openxmlformats.org/drawingml/2006/main">
              <a:ext uri="{FF2B5EF4-FFF2-40B4-BE49-F238E27FC236}">
                <a16:creationId xmlns:a16="http://schemas.microsoft.com/office/drawing/2014/main" id="{AD4C46D0-DF7C-41CF-8FC9-39B49405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89325"/>
            <a:ext cx="5191125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Replay com protecao parcial da camada de saida, em vez de totalmente livre.</a:t>
            </a:r>
          </a:p>
        </p:txBody>
      </p:sp>
      <p:sp>
        <p:nvSpPr>
          <p:cNvPr id="22" name="ref-slowheat_replay_partial_output_beta_30_budget_0.25">
            <a:extLst xmlns:a="http://schemas.openxmlformats.org/drawingml/2006/main">
              <a:ext uri="{FF2B5EF4-FFF2-40B4-BE49-F238E27FC236}">
                <a16:creationId xmlns:a16="http://schemas.microsoft.com/office/drawing/2014/main" id="{B0E40EC2-A658-4709-9566-9F540E6A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7832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13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5b6a12c8ab4b4461"/>
              </a:rPr>
              <a:t>SlowHeat local + Replay</a:t>
            </a:r>
          </a:p>
        </p:txBody>
      </p:sp>
      <p:sp>
        <p:nvSpPr>
          <p:cNvPr id="23" name="rule-655-487.66666666666674">
            <a:extLst xmlns:a="http://schemas.openxmlformats.org/drawingml/2006/main">
              <a:ext uri="{FF2B5EF4-FFF2-40B4-BE49-F238E27FC236}">
                <a16:creationId xmlns:a16="http://schemas.microsoft.com/office/drawing/2014/main" id="{4899D9FD-C00E-47E0-801A-CB544172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45025"/>
            <a:ext cx="519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method-slowheat_replay_hidden_beta_30_budget_0.25&#10;_calibrated">
            <a:extLst xmlns:a="http://schemas.openxmlformats.org/drawingml/2006/main">
              <a:ext uri="{FF2B5EF4-FFF2-40B4-BE49-F238E27FC236}">
                <a16:creationId xmlns:a16="http://schemas.microsoft.com/office/drawing/2014/main" id="{070E5712-D986-40B5-AE1D-311C7C6D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83125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1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slowheat_replay_hidden_beta_30_budget_0.25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_calibrated</a:t>
            </a:r>
          </a:p>
        </p:txBody>
      </p:sp>
      <p:sp>
        <p:nvSpPr>
          <p:cNvPr id="25" name="desc-slowheat_replay_hidden_beta_30_budget_0.25&#10;_calibrated">
            <a:extLst xmlns:a="http://schemas.openxmlformats.org/drawingml/2006/main">
              <a:ext uri="{FF2B5EF4-FFF2-40B4-BE49-F238E27FC236}">
                <a16:creationId xmlns:a16="http://schemas.microsoft.com/office/drawing/2014/main" id="{071FD395-0641-4ADA-97EF-97A3A6F5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140325"/>
            <a:ext cx="5191125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Adiciona offset local de logits para reduzir viés entre tarefas.</a:t>
            </a:r>
          </a:p>
        </p:txBody>
      </p:sp>
      <p:sp>
        <p:nvSpPr>
          <p:cNvPr id="26" name="ref-slowheat_replay_hidden_beta_30_budget_0.25&#10;_calibrated">
            <a:extLst xmlns:a="http://schemas.openxmlformats.org/drawingml/2006/main">
              <a:ext uri="{FF2B5EF4-FFF2-40B4-BE49-F238E27FC236}">
                <a16:creationId xmlns:a16="http://schemas.microsoft.com/office/drawing/2014/main" id="{D3697F19-5DDF-4B68-A8AF-80F64548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02932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13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bbd7989130bb4919"/>
              </a:rPr>
              <a:t>SlowHeat local + Replay</a:t>
            </a:r>
          </a:p>
        </p:txBody>
      </p:sp>
      <p:sp>
        <p:nvSpPr>
          <p:cNvPr id="27" name="footer-21">
            <a:extLst xmlns:a="http://schemas.openxmlformats.org/drawingml/2006/main">
              <a:ext uri="{FF2B5EF4-FFF2-40B4-BE49-F238E27FC236}">
                <a16:creationId xmlns:a16="http://schemas.microsoft.com/office/drawing/2014/main" id="{AF743C8D-C27C-4227-B39B-2545DB86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Resultados preliminares  |  n = 10 seeds</a:t>
            </a:r>
          </a:p>
        </p:txBody>
      </p:sp>
      <p:sp>
        <p:nvSpPr>
          <p:cNvPr id="28" name="page-21">
            <a:extLst xmlns:a="http://schemas.openxmlformats.org/drawingml/2006/main">
              <a:ext uri="{FF2B5EF4-FFF2-40B4-BE49-F238E27FC236}">
                <a16:creationId xmlns:a16="http://schemas.microsoft.com/office/drawing/2014/main" id="{111E101A-146C-4AB5-9D82-0CAFE81E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75027111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670AB614-7845-4EF5-9B31-3099FAB6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ARTIGOS E FONTES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0EB0917-2281-43D5-BAC8-A1563030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Referencias principais - links clicaveis</a:t>
            </a:r>
          </a:p>
        </p:txBody>
      </p:sp>
      <p:sp>
        <p:nvSpPr>
          <p:cNvPr id="3" name="rule-42-125">
            <a:extLst xmlns:a="http://schemas.openxmlformats.org/drawingml/2006/main">
              <a:ext uri="{FF2B5EF4-FFF2-40B4-BE49-F238E27FC236}">
                <a16:creationId xmlns:a16="http://schemas.microsoft.com/office/drawing/2014/main" id="{411A809A-A2DF-4A47-A25F-69DB3783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ain-ref-0">
            <a:extLst xmlns:a="http://schemas.openxmlformats.org/drawingml/2006/main">
              <a:ext uri="{FF2B5EF4-FFF2-40B4-BE49-F238E27FC236}">
                <a16:creationId xmlns:a16="http://schemas.microsoft.com/office/drawing/2014/main" id="{C2D14565-2176-44AF-A671-A7607A3D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528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a02b588d4f964936"/>
              </a:rPr>
              <a:t>Adam · Kingma &amp; Ba (2015)</a:t>
            </a:r>
          </a:p>
        </p:txBody>
      </p:sp>
      <p:sp>
        <p:nvSpPr>
          <p:cNvPr id="5" name="main-ref-1">
            <a:extLst xmlns:a="http://schemas.openxmlformats.org/drawingml/2006/main">
              <a:ext uri="{FF2B5EF4-FFF2-40B4-BE49-F238E27FC236}">
                <a16:creationId xmlns:a16="http://schemas.microsoft.com/office/drawing/2014/main" id="{11FA0E26-8660-4965-AE5D-DEC512DA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85900"/>
            <a:ext cx="528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0c6f511cd5374a54"/>
              </a:rPr>
              <a:t>AdamW · Loshchilov &amp; Hutter (2019)</a:t>
            </a:r>
          </a:p>
        </p:txBody>
      </p:sp>
      <p:sp>
        <p:nvSpPr>
          <p:cNvPr id="6" name="main-ref-2">
            <a:extLst xmlns:a="http://schemas.openxmlformats.org/drawingml/2006/main">
              <a:ext uri="{FF2B5EF4-FFF2-40B4-BE49-F238E27FC236}">
                <a16:creationId xmlns:a16="http://schemas.microsoft.com/office/drawing/2014/main" id="{A2AA95DA-BD04-459C-827B-0D2C5BD8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528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a2e5da576ff24609"/>
              </a:rPr>
              <a:t>Tiny Episodic Memories · Chaudhry et al. (2019)</a:t>
            </a:r>
          </a:p>
        </p:txBody>
      </p:sp>
      <p:sp>
        <p:nvSpPr>
          <p:cNvPr id="7" name="main-ref-3">
            <a:extLst xmlns:a="http://schemas.openxmlformats.org/drawingml/2006/main">
              <a:ext uri="{FF2B5EF4-FFF2-40B4-BE49-F238E27FC236}">
                <a16:creationId xmlns:a16="http://schemas.microsoft.com/office/drawing/2014/main" id="{2262B5EF-8B81-414F-90A0-48F7C8AC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528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75b0817a4edd496b"/>
              </a:rPr>
              <a:t>DER++ · Buzzega et al. (NeurIPS 2020)</a:t>
            </a:r>
          </a:p>
        </p:txBody>
      </p:sp>
      <p:sp>
        <p:nvSpPr>
          <p:cNvPr id="8" name="main-ref-4">
            <a:extLst xmlns:a="http://schemas.openxmlformats.org/drawingml/2006/main">
              <a:ext uri="{FF2B5EF4-FFF2-40B4-BE49-F238E27FC236}">
                <a16:creationId xmlns:a16="http://schemas.microsoft.com/office/drawing/2014/main" id="{D900E147-5D84-4861-B63E-EABCC238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528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8b32521b1adf4aae"/>
              </a:rPr>
              <a:t>ER-ACE · Caccia et al. (ICLR 2022)</a:t>
            </a:r>
          </a:p>
        </p:txBody>
      </p:sp>
      <p:sp>
        <p:nvSpPr>
          <p:cNvPr id="9" name="main-ref-5">
            <a:extLst xmlns:a="http://schemas.openxmlformats.org/drawingml/2006/main">
              <a:ext uri="{FF2B5EF4-FFF2-40B4-BE49-F238E27FC236}">
                <a16:creationId xmlns:a16="http://schemas.microsoft.com/office/drawing/2014/main" id="{EF5600E1-3EA4-4F28-866F-02DDAD6F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33700"/>
            <a:ext cx="528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e99a3edfd95a47b2"/>
              </a:rPr>
              <a:t>A-GEM · Chaudhry et al. (ICLR 2019)</a:t>
            </a:r>
          </a:p>
        </p:txBody>
      </p:sp>
      <p:sp>
        <p:nvSpPr>
          <p:cNvPr id="10" name="main-ref-6">
            <a:extLst xmlns:a="http://schemas.openxmlformats.org/drawingml/2006/main">
              <a:ext uri="{FF2B5EF4-FFF2-40B4-BE49-F238E27FC236}">
                <a16:creationId xmlns:a16="http://schemas.microsoft.com/office/drawing/2014/main" id="{EA7E7864-6536-45BE-BD01-FCF00924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528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e03ae74fc7eb4e8a"/>
              </a:rPr>
              <a:t>EWC · Kirkpatrick et al. (PNAS 2017)</a:t>
            </a:r>
          </a:p>
        </p:txBody>
      </p:sp>
      <p:sp>
        <p:nvSpPr>
          <p:cNvPr id="11" name="main-ref-7">
            <a:extLst xmlns:a="http://schemas.openxmlformats.org/drawingml/2006/main">
              <a:ext uri="{FF2B5EF4-FFF2-40B4-BE49-F238E27FC236}">
                <a16:creationId xmlns:a16="http://schemas.microsoft.com/office/drawing/2014/main" id="{E0D43E37-D12B-41CB-B952-BE5214AC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57600"/>
            <a:ext cx="528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cb7a2cbad5bc421f"/>
              </a:rPr>
              <a:t>Synaptic Intelligence · Zenke et al. (ICML 2017)</a:t>
            </a:r>
          </a:p>
        </p:txBody>
      </p:sp>
      <p:sp>
        <p:nvSpPr>
          <p:cNvPr id="12" name="main-ref-8">
            <a:extLst xmlns:a="http://schemas.openxmlformats.org/drawingml/2006/main">
              <a:ext uri="{FF2B5EF4-FFF2-40B4-BE49-F238E27FC236}">
                <a16:creationId xmlns:a16="http://schemas.microsoft.com/office/drawing/2014/main" id="{42AF52B9-F0A8-4399-8427-42C15966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528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6878304e16a74aa8"/>
              </a:rPr>
              <a:t>Learning without Forgetting · Li &amp; Hoiem (ECCV 2016)</a:t>
            </a:r>
          </a:p>
        </p:txBody>
      </p:sp>
      <p:sp>
        <p:nvSpPr>
          <p:cNvPr id="13" name="main-ref-9">
            <a:extLst xmlns:a="http://schemas.openxmlformats.org/drawingml/2006/main">
              <a:ext uri="{FF2B5EF4-FFF2-40B4-BE49-F238E27FC236}">
                <a16:creationId xmlns:a16="http://schemas.microsoft.com/office/drawing/2014/main" id="{CE0DB34F-C9E8-49EF-BFD1-D50715B3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81500"/>
            <a:ext cx="528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d05eafb7fa964c99"/>
              </a:rPr>
              <a:t>Knowledge Distillation · Hinton et al. (2015)</a:t>
            </a:r>
          </a:p>
        </p:txBody>
      </p:sp>
      <p:sp>
        <p:nvSpPr>
          <p:cNvPr id="14" name="main-ref-10">
            <a:extLst xmlns:a="http://schemas.openxmlformats.org/drawingml/2006/main">
              <a:ext uri="{FF2B5EF4-FFF2-40B4-BE49-F238E27FC236}">
                <a16:creationId xmlns:a16="http://schemas.microsoft.com/office/drawing/2014/main" id="{AC03C8F1-6C1E-4C58-BFE3-901492A0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528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b839397601564780"/>
              </a:rPr>
              <a:t>Taylor saliency · Molchanov et al. (ICLR 2017)</a:t>
            </a:r>
          </a:p>
        </p:txBody>
      </p:sp>
      <p:sp>
        <p:nvSpPr>
          <p:cNvPr id="15" name="main-ref-11">
            <a:extLst xmlns:a="http://schemas.openxmlformats.org/drawingml/2006/main">
              <a:ext uri="{FF2B5EF4-FFF2-40B4-BE49-F238E27FC236}">
                <a16:creationId xmlns:a16="http://schemas.microsoft.com/office/drawing/2014/main" id="{B163019B-89E9-46B3-A068-4F73A6AD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05400"/>
            <a:ext cx="528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0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0" u="sng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6243c5daf0cd49f3"/>
              </a:rPr>
              <a:t>Cenarios de continual learning · van de Ven &amp; Tolias (2019)</a:t>
            </a:r>
          </a:p>
        </p:txBody>
      </p:sp>
      <p:sp>
        <p:nvSpPr>
          <p:cNvPr id="16" name="local-note">
            <a:extLst xmlns:a="http://schemas.openxmlformats.org/drawingml/2006/main">
              <a:ext uri="{FF2B5EF4-FFF2-40B4-BE49-F238E27FC236}">
                <a16:creationId xmlns:a16="http://schemas.microsoft.com/office/drawing/2014/main" id="{9CC9F9F3-D5A0-4D9E-9E6F-53272DD1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42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Functional SlowHeat, DualHeat e as combinacoes/ablacoes sao contribuicoes locais ainda sem artigo externo revisado por pares.</a:t>
            </a:r>
          </a:p>
        </p:txBody>
      </p:sp>
      <p:sp>
        <p:nvSpPr>
          <p:cNvPr id="17" name="footer-22">
            <a:extLst xmlns:a="http://schemas.openxmlformats.org/drawingml/2006/main">
              <a:ext uri="{FF2B5EF4-FFF2-40B4-BE49-F238E27FC236}">
                <a16:creationId xmlns:a16="http://schemas.microsoft.com/office/drawing/2014/main" id="{38F353A9-B806-47D5-8C79-0B3A2DC4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Resultados preliminares  |  n = 10 seeds</a:t>
            </a:r>
          </a:p>
        </p:txBody>
      </p:sp>
      <p:sp>
        <p:nvSpPr>
          <p:cNvPr id="18" name="page-22">
            <a:extLst xmlns:a="http://schemas.openxmlformats.org/drawingml/2006/main">
              <a:ext uri="{FF2B5EF4-FFF2-40B4-BE49-F238E27FC236}">
                <a16:creationId xmlns:a16="http://schemas.microsoft.com/office/drawing/2014/main" id="{F3E27DF3-8C40-448B-B62F-82341376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03841665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9AB40B1B-97CE-4F31-95A8-F93B84F0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SINTESE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56D1D588-EB23-4339-98A4-5D1F30D1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47825"/>
            <a:ext cx="1047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SlowHeat e promissor como complemento ao DER++ - ainda nao como melhoria geral confirmada.</a:t>
            </a:r>
          </a:p>
        </p:txBody>
      </p:sp>
      <p:sp>
        <p:nvSpPr>
          <p:cNvPr id="3" name="closing-sub">
            <a:extLst xmlns:a="http://schemas.openxmlformats.org/drawingml/2006/main">
              <a:ext uri="{FF2B5EF4-FFF2-40B4-BE49-F238E27FC236}">
                <a16:creationId xmlns:a16="http://schemas.microsoft.com/office/drawing/2014/main" id="{FB1E6142-D9FA-4D9A-B265-CE21567A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7524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Proxima decisao: confirmar o contraste pareado e validar fora do MNIST.</a:t>
            </a:r>
          </a:p>
        </p:txBody>
      </p:sp>
      <p:sp>
        <p:nvSpPr>
          <p:cNvPr id="4" name="closing-data">
            <a:extLst xmlns:a="http://schemas.openxmlformats.org/drawingml/2006/main">
              <a:ext uri="{FF2B5EF4-FFF2-40B4-BE49-F238E27FC236}">
                <a16:creationId xmlns:a16="http://schemas.microsoft.com/office/drawing/2014/main" id="{733517CF-C001-41EF-9254-BD4AB768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483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85,06% Split · 95,56% Permuted · n=10</a:t>
            </a:r>
          </a:p>
        </p:txBody>
      </p:sp>
      <p:sp>
        <p:nvSpPr>
          <p:cNvPr id="5" name="footer-23">
            <a:extLst xmlns:a="http://schemas.openxmlformats.org/drawingml/2006/main">
              <a:ext uri="{FF2B5EF4-FFF2-40B4-BE49-F238E27FC236}">
                <a16:creationId xmlns:a16="http://schemas.microsoft.com/office/drawing/2014/main" id="{B2315371-630D-4A1B-87B2-5792A43F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Resultados preliminares  |  n = 10 seeds</a:t>
            </a:r>
          </a:p>
        </p:txBody>
      </p:sp>
      <p:sp>
        <p:nvSpPr>
          <p:cNvPr id="6" name="page-23">
            <a:extLst xmlns:a="http://schemas.openxmlformats.org/drawingml/2006/main">
              <a:ext uri="{FF2B5EF4-FFF2-40B4-BE49-F238E27FC236}">
                <a16:creationId xmlns:a16="http://schemas.microsoft.com/office/drawing/2014/main" id="{7A71B2AF-D1E7-4C43-9A9D-39ABF842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9922484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2026-08-19T19:04:01.4850000Z</dcterms:created>
  <dcterms:modified xsi:type="dcterms:W3CDTF">2026-08-19T19:04:01.4850000Z</dcterms:modified>
</coreProperties>
</file>